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slideLayout" Target="../slideLayouts/slideLayout3.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svg"/><Relationship Id="rId6" Type="http://schemas.openxmlformats.org/officeDocument/2006/relationships/image" Target="../media/image-3-6.png"/><Relationship Id="rId7" Type="http://schemas.openxmlformats.org/officeDocument/2006/relationships/image" Target="../media/image-3-7.svg"/><Relationship Id="rId8" Type="http://schemas.openxmlformats.org/officeDocument/2006/relationships/image" Target="../media/image-3-8.png"/><Relationship Id="rId9" Type="http://schemas.openxmlformats.org/officeDocument/2006/relationships/image" Target="../media/image-3-9.svg"/><Relationship Id="rId10" Type="http://schemas.openxmlformats.org/officeDocument/2006/relationships/slideLayout" Target="../slideLayouts/slideLayout4.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image" Target="../media/image-8-4.png"/><Relationship Id="rId5" Type="http://schemas.openxmlformats.org/officeDocument/2006/relationships/image" Target="../media/image-8-5.svg"/><Relationship Id="rId6" Type="http://schemas.openxmlformats.org/officeDocument/2006/relationships/image" Target="../media/image-8-6.png"/><Relationship Id="rId7" Type="http://schemas.openxmlformats.org/officeDocument/2006/relationships/image" Target="../media/image-8-7.svg"/><Relationship Id="rId8" Type="http://schemas.openxmlformats.org/officeDocument/2006/relationships/image" Target="../media/image-8-8.png"/><Relationship Id="rId9" Type="http://schemas.openxmlformats.org/officeDocument/2006/relationships/image" Target="../media/image-8-9.svg"/><Relationship Id="rId10" Type="http://schemas.openxmlformats.org/officeDocument/2006/relationships/slideLayout" Target="../slideLayouts/slideLayout9.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image" Target="../media/image-9-9.png"/><Relationship Id="rId10" Type="http://schemas.openxmlformats.org/officeDocument/2006/relationships/image" Target="../media/image-9-10.svg"/><Relationship Id="rId11" Type="http://schemas.openxmlformats.org/officeDocument/2006/relationships/slideLayout" Target="../slideLayouts/slideLayout10.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693551"/>
          </a:xfrm>
          <a:prstGeom prst="rect">
            <a:avLst/>
          </a:prstGeom>
        </p:spPr>
      </p:pic>
      <p:sp>
        <p:nvSpPr>
          <p:cNvPr id="3" name="Text 0"/>
          <p:cNvSpPr/>
          <p:nvPr/>
        </p:nvSpPr>
        <p:spPr>
          <a:xfrm>
            <a:off x="793790" y="3317319"/>
            <a:ext cx="13042821" cy="2693432"/>
          </a:xfrm>
          <a:prstGeom prst="rect">
            <a:avLst/>
          </a:prstGeom>
          <a:noFill/>
          <a:ln/>
        </p:spPr>
        <p:txBody>
          <a:bodyPr wrap="square" lIns="0" tIns="0" rIns="0" bIns="0" rtlCol="0" anchor="t"/>
          <a:lstStyle/>
          <a:p>
            <a:pPr algn="ctr" indent="0" marL="0">
              <a:lnSpc>
                <a:spcPts val="10600"/>
              </a:lnSpc>
              <a:buNone/>
            </a:pPr>
            <a:r>
              <a:rPr lang="en-US" sz="8450" dirty="0">
                <a:solidFill>
                  <a:srgbClr val="0D0D0D"/>
                </a:solidFill>
                <a:latin typeface="Source Serif 4" pitchFamily="34" charset="0"/>
                <a:ea typeface="Source Serif 4" pitchFamily="34" charset="-122"/>
                <a:cs typeface="Source Serif 4" pitchFamily="34" charset="-120"/>
              </a:rPr>
              <a:t>E-commerce Sales Analysis</a:t>
            </a:r>
            <a:endParaRPr lang="en-US" sz="8450" dirty="0"/>
          </a:p>
        </p:txBody>
      </p:sp>
      <p:pic>
        <p:nvPicPr>
          <p:cNvPr id="4" name="Image 1" descr="preencoded.png">    </p:cNvPr>
          <p:cNvPicPr>
            <a:picLocks noChangeAspect="1"/>
          </p:cNvPicPr>
          <p:nvPr/>
        </p:nvPicPr>
        <p:blipFill>
          <a:blip r:embed="rId2"/>
          <a:stretch>
            <a:fillRect/>
          </a:stretch>
        </p:blipFill>
        <p:spPr>
          <a:xfrm>
            <a:off x="5216128" y="6317813"/>
            <a:ext cx="4198025" cy="592574"/>
          </a:xfrm>
          <a:prstGeom prst="rect">
            <a:avLst/>
          </a:prstGeom>
        </p:spPr>
      </p:pic>
      <p:sp>
        <p:nvSpPr>
          <p:cNvPr id="5" name="Text 1"/>
          <p:cNvSpPr/>
          <p:nvPr/>
        </p:nvSpPr>
        <p:spPr>
          <a:xfrm>
            <a:off x="793790" y="7140654"/>
            <a:ext cx="13042821" cy="294084"/>
          </a:xfrm>
          <a:prstGeom prst="rect">
            <a:avLst/>
          </a:prstGeom>
          <a:noFill/>
          <a:ln/>
        </p:spPr>
        <p:txBody>
          <a:bodyPr wrap="none" lIns="0" tIns="0" rIns="0" bIns="0" rtlCol="0" anchor="t"/>
          <a:lstStyle/>
          <a:p>
            <a:pPr algn="l" indent="0" marL="0">
              <a:lnSpc>
                <a:spcPts val="2300"/>
              </a:lnSpc>
              <a:buNone/>
            </a:pP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93790" y="667345"/>
            <a:ext cx="1146929" cy="364331"/>
          </a:xfrm>
          <a:prstGeom prst="roundRect">
            <a:avLst>
              <a:gd name="adj" fmla="val 7098"/>
            </a:avLst>
          </a:prstGeom>
          <a:solidFill>
            <a:srgbClr val="F5E6CC"/>
          </a:solidFill>
          <a:ln/>
        </p:spPr>
      </p:sp>
      <p:sp>
        <p:nvSpPr>
          <p:cNvPr id="3" name="Text 1"/>
          <p:cNvSpPr/>
          <p:nvPr/>
        </p:nvSpPr>
        <p:spPr>
          <a:xfrm>
            <a:off x="922972" y="731877"/>
            <a:ext cx="888563" cy="235268"/>
          </a:xfrm>
          <a:prstGeom prst="rect">
            <a:avLst/>
          </a:prstGeom>
          <a:noFill/>
          <a:ln/>
        </p:spPr>
        <p:txBody>
          <a:bodyPr wrap="none" lIns="0" tIns="0" rIns="0" bIns="0" rtlCol="0" anchor="t"/>
          <a:lstStyle/>
          <a:p>
            <a:pPr algn="l" indent="0" marL="0">
              <a:lnSpc>
                <a:spcPts val="1850"/>
              </a:lnSpc>
              <a:buNone/>
            </a:pPr>
            <a:r>
              <a:rPr lang="en-US" sz="1350" dirty="0">
                <a:solidFill>
                  <a:srgbClr val="000000"/>
                </a:solidFill>
                <a:latin typeface="Public Sans Light" pitchFamily="34" charset="0"/>
                <a:ea typeface="Public Sans Light" pitchFamily="34" charset="-122"/>
                <a:cs typeface="Public Sans Light" pitchFamily="34" charset="-120"/>
              </a:rPr>
              <a:t>OVERVIEW</a:t>
            </a:r>
            <a:endParaRPr lang="en-US" sz="1350" dirty="0"/>
          </a:p>
        </p:txBody>
      </p:sp>
      <p:sp>
        <p:nvSpPr>
          <p:cNvPr id="4" name="Text 2"/>
          <p:cNvSpPr/>
          <p:nvPr/>
        </p:nvSpPr>
        <p:spPr>
          <a:xfrm>
            <a:off x="793790" y="1113473"/>
            <a:ext cx="5387102" cy="673418"/>
          </a:xfrm>
          <a:prstGeom prst="rect">
            <a:avLst/>
          </a:prstGeom>
          <a:noFill/>
          <a:ln/>
        </p:spPr>
        <p:txBody>
          <a:bodyPr wrap="none" lIns="0" tIns="0" rIns="0" bIns="0" rtlCol="0" anchor="t"/>
          <a:lstStyle/>
          <a:p>
            <a:pPr algn="l" indent="0" marL="0">
              <a:lnSpc>
                <a:spcPts val="5300"/>
              </a:lnSpc>
              <a:buNone/>
            </a:pPr>
            <a:r>
              <a:rPr lang="en-US" sz="4200" dirty="0">
                <a:solidFill>
                  <a:srgbClr val="0D0D0D"/>
                </a:solidFill>
                <a:latin typeface="Source Serif 4" pitchFamily="34" charset="0"/>
                <a:ea typeface="Source Serif 4" pitchFamily="34" charset="-122"/>
                <a:cs typeface="Source Serif 4" pitchFamily="34" charset="-120"/>
              </a:rPr>
              <a:t>Project Objective</a:t>
            </a:r>
            <a:endParaRPr lang="en-US" sz="4200" dirty="0"/>
          </a:p>
        </p:txBody>
      </p:sp>
      <p:sp>
        <p:nvSpPr>
          <p:cNvPr id="5" name="Text 3"/>
          <p:cNvSpPr/>
          <p:nvPr/>
        </p:nvSpPr>
        <p:spPr>
          <a:xfrm>
            <a:off x="793790" y="2093952"/>
            <a:ext cx="13042821" cy="588169"/>
          </a:xfrm>
          <a:prstGeom prst="rect">
            <a:avLst/>
          </a:prstGeom>
          <a:noFill/>
          <a:ln/>
        </p:spPr>
        <p:txBody>
          <a:bodyPr wrap="square" lIns="0" tIns="0" rIns="0" bIns="0" rtlCol="0" anchor="t"/>
          <a:lstStyle/>
          <a:p>
            <a:pPr algn="l" indent="0" marL="0">
              <a:lnSpc>
                <a:spcPts val="2300"/>
              </a:lnSpc>
              <a:buNone/>
            </a:pPr>
            <a:r>
              <a:rPr lang="en-US" sz="1650" dirty="0">
                <a:solidFill>
                  <a:srgbClr val="1B365D"/>
                </a:solidFill>
                <a:latin typeface="Public Sans Light" pitchFamily="34" charset="0"/>
                <a:ea typeface="Public Sans Light" pitchFamily="34" charset="-122"/>
                <a:cs typeface="Public Sans Light" pitchFamily="34" charset="-120"/>
              </a:rPr>
              <a:t>This project dives into the CreepShwal e-commerce dataset using Microsoft Excel to uncover meaningful patterns in customer behavior, regional sales performance, and channel effectiveness — culminating in a fully interactive dashboard for decision-making.</a:t>
            </a:r>
            <a:endParaRPr lang="en-US" sz="1650" dirty="0"/>
          </a:p>
        </p:txBody>
      </p:sp>
      <p:sp>
        <p:nvSpPr>
          <p:cNvPr id="6" name="Shape 4"/>
          <p:cNvSpPr/>
          <p:nvPr/>
        </p:nvSpPr>
        <p:spPr>
          <a:xfrm>
            <a:off x="793790" y="3235523"/>
            <a:ext cx="6419017" cy="1899404"/>
          </a:xfrm>
          <a:prstGeom prst="roundRect">
            <a:avLst>
              <a:gd name="adj" fmla="val 7703"/>
            </a:avLst>
          </a:prstGeom>
          <a:solidFill>
            <a:srgbClr val="FFFFFF"/>
          </a:solidFill>
          <a:ln/>
        </p:spPr>
      </p:sp>
      <p:sp>
        <p:nvSpPr>
          <p:cNvPr id="7" name="Shape 5"/>
          <p:cNvSpPr/>
          <p:nvPr/>
        </p:nvSpPr>
        <p:spPr>
          <a:xfrm>
            <a:off x="793790" y="3205043"/>
            <a:ext cx="6419017" cy="121920"/>
          </a:xfrm>
          <a:prstGeom prst="roundRect">
            <a:avLst>
              <a:gd name="adj" fmla="val 26512"/>
            </a:avLst>
          </a:prstGeom>
          <a:solidFill>
            <a:srgbClr val="1B365D"/>
          </a:solidFill>
          <a:ln/>
        </p:spPr>
      </p:sp>
      <p:sp>
        <p:nvSpPr>
          <p:cNvPr id="8" name="Shape 6"/>
          <p:cNvSpPr/>
          <p:nvPr/>
        </p:nvSpPr>
        <p:spPr>
          <a:xfrm>
            <a:off x="3680043" y="2912388"/>
            <a:ext cx="646390" cy="646390"/>
          </a:xfrm>
          <a:prstGeom prst="roundRect">
            <a:avLst>
              <a:gd name="adj" fmla="val 141463"/>
            </a:avLst>
          </a:prstGeom>
          <a:solidFill>
            <a:srgbClr val="1B365D"/>
          </a:solidFill>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873996" y="3106222"/>
            <a:ext cx="258485" cy="258485"/>
          </a:xfrm>
          <a:prstGeom prst="rect">
            <a:avLst/>
          </a:prstGeom>
        </p:spPr>
      </p:pic>
      <p:sp>
        <p:nvSpPr>
          <p:cNvPr id="10" name="Text 7"/>
          <p:cNvSpPr/>
          <p:nvPr/>
        </p:nvSpPr>
        <p:spPr>
          <a:xfrm>
            <a:off x="1039654" y="3774162"/>
            <a:ext cx="3232190" cy="403979"/>
          </a:xfrm>
          <a:prstGeom prst="rect">
            <a:avLst/>
          </a:prstGeom>
          <a:noFill/>
          <a:ln/>
        </p:spPr>
        <p:txBody>
          <a:bodyPr wrap="none" lIns="0" tIns="0" rIns="0" bIns="0" rtlCol="0" anchor="t"/>
          <a:lstStyle/>
          <a:p>
            <a:pPr algn="l" indent="0" marL="0">
              <a:lnSpc>
                <a:spcPts val="3150"/>
              </a:lnSpc>
              <a:buNone/>
            </a:pPr>
            <a:r>
              <a:rPr lang="en-US" sz="2500" dirty="0">
                <a:solidFill>
                  <a:srgbClr val="1B365D"/>
                </a:solidFill>
                <a:latin typeface="Source Serif 4" pitchFamily="34" charset="0"/>
                <a:ea typeface="Source Serif 4" pitchFamily="34" charset="-122"/>
                <a:cs typeface="Source Serif 4" pitchFamily="34" charset="-120"/>
              </a:rPr>
              <a:t>Analyze Sales Data</a:t>
            </a:r>
            <a:endParaRPr lang="en-US" sz="2500" dirty="0"/>
          </a:p>
        </p:txBody>
      </p:sp>
      <p:sp>
        <p:nvSpPr>
          <p:cNvPr id="11" name="Text 8"/>
          <p:cNvSpPr/>
          <p:nvPr/>
        </p:nvSpPr>
        <p:spPr>
          <a:xfrm>
            <a:off x="1039654" y="4300895"/>
            <a:ext cx="5927288" cy="588169"/>
          </a:xfrm>
          <a:prstGeom prst="rect">
            <a:avLst/>
          </a:prstGeom>
          <a:noFill/>
          <a:ln/>
        </p:spPr>
        <p:txBody>
          <a:bodyPr wrap="square" lIns="0" tIns="0" rIns="0" bIns="0" rtlCol="0" anchor="t"/>
          <a:lstStyle/>
          <a:p>
            <a:pPr algn="l" indent="0" marL="0">
              <a:lnSpc>
                <a:spcPts val="2300"/>
              </a:lnSpc>
              <a:buNone/>
            </a:pPr>
            <a:r>
              <a:rPr lang="en-US" sz="1650" dirty="0">
                <a:solidFill>
                  <a:srgbClr val="1B365D"/>
                </a:solidFill>
                <a:latin typeface="Public Sans Light" pitchFamily="34" charset="0"/>
                <a:ea typeface="Public Sans Light" pitchFamily="34" charset="-122"/>
                <a:cs typeface="Public Sans Light" pitchFamily="34" charset="-120"/>
              </a:rPr>
              <a:t>Examine the complete e-commerce dataset to understand revenue patterns, volumes, and performance over time.</a:t>
            </a:r>
            <a:endParaRPr lang="en-US" sz="1650" dirty="0"/>
          </a:p>
        </p:txBody>
      </p:sp>
      <p:sp>
        <p:nvSpPr>
          <p:cNvPr id="12" name="Shape 9"/>
          <p:cNvSpPr/>
          <p:nvPr/>
        </p:nvSpPr>
        <p:spPr>
          <a:xfrm>
            <a:off x="7417475" y="3235523"/>
            <a:ext cx="6419136" cy="1899404"/>
          </a:xfrm>
          <a:prstGeom prst="roundRect">
            <a:avLst>
              <a:gd name="adj" fmla="val 7703"/>
            </a:avLst>
          </a:prstGeom>
          <a:solidFill>
            <a:srgbClr val="FFFFFF"/>
          </a:solidFill>
          <a:ln/>
        </p:spPr>
      </p:sp>
      <p:sp>
        <p:nvSpPr>
          <p:cNvPr id="13" name="Shape 10"/>
          <p:cNvSpPr/>
          <p:nvPr/>
        </p:nvSpPr>
        <p:spPr>
          <a:xfrm>
            <a:off x="7417475" y="3205043"/>
            <a:ext cx="6419136" cy="121920"/>
          </a:xfrm>
          <a:prstGeom prst="roundRect">
            <a:avLst>
              <a:gd name="adj" fmla="val 26512"/>
            </a:avLst>
          </a:prstGeom>
          <a:solidFill>
            <a:srgbClr val="1B365D"/>
          </a:solidFill>
          <a:ln/>
        </p:spPr>
      </p:sp>
      <p:sp>
        <p:nvSpPr>
          <p:cNvPr id="14" name="Shape 11"/>
          <p:cNvSpPr/>
          <p:nvPr/>
        </p:nvSpPr>
        <p:spPr>
          <a:xfrm>
            <a:off x="10303847" y="2912388"/>
            <a:ext cx="646390" cy="646390"/>
          </a:xfrm>
          <a:prstGeom prst="roundRect">
            <a:avLst>
              <a:gd name="adj" fmla="val 141463"/>
            </a:avLst>
          </a:prstGeom>
          <a:solidFill>
            <a:srgbClr val="1B365D"/>
          </a:solidFill>
          <a:ln/>
        </p:spPr>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97800" y="3106222"/>
            <a:ext cx="258485" cy="258485"/>
          </a:xfrm>
          <a:prstGeom prst="rect">
            <a:avLst/>
          </a:prstGeom>
        </p:spPr>
      </p:pic>
      <p:sp>
        <p:nvSpPr>
          <p:cNvPr id="16" name="Text 12"/>
          <p:cNvSpPr/>
          <p:nvPr/>
        </p:nvSpPr>
        <p:spPr>
          <a:xfrm>
            <a:off x="7663339" y="3774162"/>
            <a:ext cx="4256127" cy="403979"/>
          </a:xfrm>
          <a:prstGeom prst="rect">
            <a:avLst/>
          </a:prstGeom>
          <a:noFill/>
          <a:ln/>
        </p:spPr>
        <p:txBody>
          <a:bodyPr wrap="none" lIns="0" tIns="0" rIns="0" bIns="0" rtlCol="0" anchor="t"/>
          <a:lstStyle/>
          <a:p>
            <a:pPr algn="l" indent="0" marL="0">
              <a:lnSpc>
                <a:spcPts val="3150"/>
              </a:lnSpc>
              <a:buNone/>
            </a:pPr>
            <a:r>
              <a:rPr lang="en-US" sz="2500" dirty="0">
                <a:solidFill>
                  <a:srgbClr val="1B365D"/>
                </a:solidFill>
                <a:latin typeface="Source Serif 4" pitchFamily="34" charset="0"/>
                <a:ea typeface="Source Serif 4" pitchFamily="34" charset="-122"/>
                <a:cs typeface="Source Serif 4" pitchFamily="34" charset="-120"/>
              </a:rPr>
              <a:t>Identify Customer Behavior</a:t>
            </a:r>
            <a:endParaRPr lang="en-US" sz="2500" dirty="0"/>
          </a:p>
        </p:txBody>
      </p:sp>
      <p:sp>
        <p:nvSpPr>
          <p:cNvPr id="17" name="Text 13"/>
          <p:cNvSpPr/>
          <p:nvPr/>
        </p:nvSpPr>
        <p:spPr>
          <a:xfrm>
            <a:off x="7663339" y="4300895"/>
            <a:ext cx="5927407" cy="588169"/>
          </a:xfrm>
          <a:prstGeom prst="rect">
            <a:avLst/>
          </a:prstGeom>
          <a:noFill/>
          <a:ln/>
        </p:spPr>
        <p:txBody>
          <a:bodyPr wrap="square" lIns="0" tIns="0" rIns="0" bIns="0" rtlCol="0" anchor="t"/>
          <a:lstStyle/>
          <a:p>
            <a:pPr algn="l" indent="0" marL="0">
              <a:lnSpc>
                <a:spcPts val="2300"/>
              </a:lnSpc>
              <a:buNone/>
            </a:pPr>
            <a:r>
              <a:rPr lang="en-US" sz="1650" dirty="0">
                <a:solidFill>
                  <a:srgbClr val="1B365D"/>
                </a:solidFill>
                <a:latin typeface="Public Sans Light" pitchFamily="34" charset="0"/>
                <a:ea typeface="Public Sans Light" pitchFamily="34" charset="-122"/>
                <a:cs typeface="Public Sans Light" pitchFamily="34" charset="-120"/>
              </a:rPr>
              <a:t>Segment customers by gender, age group, and geography to reveal who is driving the most purchases.</a:t>
            </a:r>
            <a:endParaRPr lang="en-US" sz="1650" dirty="0"/>
          </a:p>
        </p:txBody>
      </p:sp>
      <p:sp>
        <p:nvSpPr>
          <p:cNvPr id="18" name="Shape 14"/>
          <p:cNvSpPr/>
          <p:nvPr/>
        </p:nvSpPr>
        <p:spPr>
          <a:xfrm>
            <a:off x="793790" y="5662732"/>
            <a:ext cx="6419017" cy="1899404"/>
          </a:xfrm>
          <a:prstGeom prst="roundRect">
            <a:avLst>
              <a:gd name="adj" fmla="val 7703"/>
            </a:avLst>
          </a:prstGeom>
          <a:solidFill>
            <a:srgbClr val="FFFFFF"/>
          </a:solidFill>
          <a:ln/>
        </p:spPr>
      </p:sp>
      <p:sp>
        <p:nvSpPr>
          <p:cNvPr id="19" name="Shape 15"/>
          <p:cNvSpPr/>
          <p:nvPr/>
        </p:nvSpPr>
        <p:spPr>
          <a:xfrm>
            <a:off x="793790" y="5632252"/>
            <a:ext cx="6419017" cy="121920"/>
          </a:xfrm>
          <a:prstGeom prst="roundRect">
            <a:avLst>
              <a:gd name="adj" fmla="val 26512"/>
            </a:avLst>
          </a:prstGeom>
          <a:solidFill>
            <a:srgbClr val="1B365D"/>
          </a:solidFill>
          <a:ln/>
        </p:spPr>
      </p:sp>
      <p:sp>
        <p:nvSpPr>
          <p:cNvPr id="20" name="Shape 16"/>
          <p:cNvSpPr/>
          <p:nvPr/>
        </p:nvSpPr>
        <p:spPr>
          <a:xfrm>
            <a:off x="3680043" y="5339596"/>
            <a:ext cx="646390" cy="646390"/>
          </a:xfrm>
          <a:prstGeom prst="roundRect">
            <a:avLst>
              <a:gd name="adj" fmla="val 141463"/>
            </a:avLst>
          </a:prstGeom>
          <a:solidFill>
            <a:srgbClr val="1B365D"/>
          </a:solidFill>
          <a:ln/>
        </p:spPr>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73996" y="5533430"/>
            <a:ext cx="258485" cy="258485"/>
          </a:xfrm>
          <a:prstGeom prst="rect">
            <a:avLst/>
          </a:prstGeom>
        </p:spPr>
      </p:pic>
      <p:sp>
        <p:nvSpPr>
          <p:cNvPr id="22" name="Text 17"/>
          <p:cNvSpPr/>
          <p:nvPr/>
        </p:nvSpPr>
        <p:spPr>
          <a:xfrm>
            <a:off x="1039654" y="6201370"/>
            <a:ext cx="3805952" cy="403979"/>
          </a:xfrm>
          <a:prstGeom prst="rect">
            <a:avLst/>
          </a:prstGeom>
          <a:noFill/>
          <a:ln/>
        </p:spPr>
        <p:txBody>
          <a:bodyPr wrap="none" lIns="0" tIns="0" rIns="0" bIns="0" rtlCol="0" anchor="t"/>
          <a:lstStyle/>
          <a:p>
            <a:pPr algn="l" indent="0" marL="0">
              <a:lnSpc>
                <a:spcPts val="3150"/>
              </a:lnSpc>
              <a:buNone/>
            </a:pPr>
            <a:r>
              <a:rPr lang="en-US" sz="2500" dirty="0">
                <a:solidFill>
                  <a:srgbClr val="1B365D"/>
                </a:solidFill>
                <a:latin typeface="Source Serif 4" pitchFamily="34" charset="0"/>
                <a:ea typeface="Source Serif 4" pitchFamily="34" charset="-122"/>
                <a:cs typeface="Source Serif 4" pitchFamily="34" charset="-120"/>
              </a:rPr>
              <a:t>Understand Sales Trends</a:t>
            </a:r>
            <a:endParaRPr lang="en-US" sz="2500" dirty="0"/>
          </a:p>
        </p:txBody>
      </p:sp>
      <p:sp>
        <p:nvSpPr>
          <p:cNvPr id="23" name="Text 18"/>
          <p:cNvSpPr/>
          <p:nvPr/>
        </p:nvSpPr>
        <p:spPr>
          <a:xfrm>
            <a:off x="1039654" y="6728103"/>
            <a:ext cx="5927288" cy="588169"/>
          </a:xfrm>
          <a:prstGeom prst="rect">
            <a:avLst/>
          </a:prstGeom>
          <a:noFill/>
          <a:ln/>
        </p:spPr>
        <p:txBody>
          <a:bodyPr wrap="square" lIns="0" tIns="0" rIns="0" bIns="0" rtlCol="0" anchor="t"/>
          <a:lstStyle/>
          <a:p>
            <a:pPr algn="l" indent="0" marL="0">
              <a:lnSpc>
                <a:spcPts val="2300"/>
              </a:lnSpc>
              <a:buNone/>
            </a:pPr>
            <a:r>
              <a:rPr lang="en-US" sz="1650" dirty="0">
                <a:solidFill>
                  <a:srgbClr val="1B365D"/>
                </a:solidFill>
                <a:latin typeface="Public Sans Light" pitchFamily="34" charset="0"/>
                <a:ea typeface="Public Sans Light" pitchFamily="34" charset="-122"/>
                <a:cs typeface="Public Sans Light" pitchFamily="34" charset="-120"/>
              </a:rPr>
              <a:t>Detect seasonal patterns and category-level trends across months, channels, and regions.</a:t>
            </a:r>
            <a:endParaRPr lang="en-US" sz="1650" dirty="0"/>
          </a:p>
        </p:txBody>
      </p:sp>
      <p:sp>
        <p:nvSpPr>
          <p:cNvPr id="24" name="Shape 19"/>
          <p:cNvSpPr/>
          <p:nvPr/>
        </p:nvSpPr>
        <p:spPr>
          <a:xfrm>
            <a:off x="7417475" y="5662732"/>
            <a:ext cx="6419136" cy="1899404"/>
          </a:xfrm>
          <a:prstGeom prst="roundRect">
            <a:avLst>
              <a:gd name="adj" fmla="val 7703"/>
            </a:avLst>
          </a:prstGeom>
          <a:solidFill>
            <a:srgbClr val="FFFFFF"/>
          </a:solidFill>
          <a:ln/>
        </p:spPr>
      </p:sp>
      <p:sp>
        <p:nvSpPr>
          <p:cNvPr id="25" name="Shape 20"/>
          <p:cNvSpPr/>
          <p:nvPr/>
        </p:nvSpPr>
        <p:spPr>
          <a:xfrm>
            <a:off x="7417475" y="5632252"/>
            <a:ext cx="6419136" cy="121920"/>
          </a:xfrm>
          <a:prstGeom prst="roundRect">
            <a:avLst>
              <a:gd name="adj" fmla="val 26512"/>
            </a:avLst>
          </a:prstGeom>
          <a:solidFill>
            <a:srgbClr val="1B365D"/>
          </a:solidFill>
          <a:ln/>
        </p:spPr>
      </p:sp>
      <p:sp>
        <p:nvSpPr>
          <p:cNvPr id="26" name="Shape 21"/>
          <p:cNvSpPr/>
          <p:nvPr/>
        </p:nvSpPr>
        <p:spPr>
          <a:xfrm>
            <a:off x="10303847" y="5339596"/>
            <a:ext cx="646390" cy="646390"/>
          </a:xfrm>
          <a:prstGeom prst="roundRect">
            <a:avLst>
              <a:gd name="adj" fmla="val 141463"/>
            </a:avLst>
          </a:prstGeom>
          <a:solidFill>
            <a:srgbClr val="1B365D"/>
          </a:solidFill>
          <a:ln/>
        </p:spPr>
      </p:sp>
      <p:pic>
        <p:nvPicPr>
          <p:cNvPr id="2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97800" y="5533430"/>
            <a:ext cx="258485" cy="258485"/>
          </a:xfrm>
          <a:prstGeom prst="rect">
            <a:avLst/>
          </a:prstGeom>
        </p:spPr>
      </p:pic>
      <p:sp>
        <p:nvSpPr>
          <p:cNvPr id="28" name="Text 22"/>
          <p:cNvSpPr/>
          <p:nvPr/>
        </p:nvSpPr>
        <p:spPr>
          <a:xfrm>
            <a:off x="7663339" y="6201370"/>
            <a:ext cx="3232190" cy="403979"/>
          </a:xfrm>
          <a:prstGeom prst="rect">
            <a:avLst/>
          </a:prstGeom>
          <a:noFill/>
          <a:ln/>
        </p:spPr>
        <p:txBody>
          <a:bodyPr wrap="none" lIns="0" tIns="0" rIns="0" bIns="0" rtlCol="0" anchor="t"/>
          <a:lstStyle/>
          <a:p>
            <a:pPr algn="l" indent="0" marL="0">
              <a:lnSpc>
                <a:spcPts val="3150"/>
              </a:lnSpc>
              <a:buNone/>
            </a:pPr>
            <a:r>
              <a:rPr lang="en-US" sz="2500" dirty="0">
                <a:solidFill>
                  <a:srgbClr val="1B365D"/>
                </a:solidFill>
                <a:latin typeface="Source Serif 4" pitchFamily="34" charset="0"/>
                <a:ea typeface="Source Serif 4" pitchFamily="34" charset="-122"/>
                <a:cs typeface="Source Serif 4" pitchFamily="34" charset="-120"/>
              </a:rPr>
              <a:t>Build a Dashboard</a:t>
            </a:r>
            <a:endParaRPr lang="en-US" sz="2500" dirty="0"/>
          </a:p>
        </p:txBody>
      </p:sp>
      <p:sp>
        <p:nvSpPr>
          <p:cNvPr id="29" name="Text 23"/>
          <p:cNvSpPr/>
          <p:nvPr/>
        </p:nvSpPr>
        <p:spPr>
          <a:xfrm>
            <a:off x="7663339" y="6728103"/>
            <a:ext cx="5927407" cy="588169"/>
          </a:xfrm>
          <a:prstGeom prst="rect">
            <a:avLst/>
          </a:prstGeom>
          <a:noFill/>
          <a:ln/>
        </p:spPr>
        <p:txBody>
          <a:bodyPr wrap="square" lIns="0" tIns="0" rIns="0" bIns="0" rtlCol="0" anchor="t"/>
          <a:lstStyle/>
          <a:p>
            <a:pPr algn="l" indent="0" marL="0">
              <a:lnSpc>
                <a:spcPts val="2300"/>
              </a:lnSpc>
              <a:buNone/>
            </a:pPr>
            <a:r>
              <a:rPr lang="en-US" sz="1650" dirty="0">
                <a:solidFill>
                  <a:srgbClr val="1B365D"/>
                </a:solidFill>
                <a:latin typeface="Public Sans Light" pitchFamily="34" charset="0"/>
                <a:ea typeface="Public Sans Light" pitchFamily="34" charset="-122"/>
                <a:cs typeface="Public Sans Light" pitchFamily="34" charset="-120"/>
              </a:rPr>
              <a:t>Create an interactive Excel dashboard using Pivot Tables with filters for Gender, Channel, and State.</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126456"/>
          </a:xfrm>
          <a:prstGeom prst="rect">
            <a:avLst/>
          </a:prstGeom>
        </p:spPr>
      </p:pic>
      <p:sp>
        <p:nvSpPr>
          <p:cNvPr id="3" name="Shape 0"/>
          <p:cNvSpPr/>
          <p:nvPr/>
        </p:nvSpPr>
        <p:spPr>
          <a:xfrm>
            <a:off x="793790" y="2893695"/>
            <a:ext cx="1160026" cy="268605"/>
          </a:xfrm>
          <a:prstGeom prst="roundRect">
            <a:avLst>
              <a:gd name="adj" fmla="val 7600"/>
            </a:avLst>
          </a:prstGeom>
          <a:solidFill>
            <a:srgbClr val="F5E6CC"/>
          </a:solidFill>
          <a:ln/>
        </p:spPr>
      </p:sp>
      <p:sp>
        <p:nvSpPr>
          <p:cNvPr id="4" name="Text 1"/>
          <p:cNvSpPr/>
          <p:nvPr/>
        </p:nvSpPr>
        <p:spPr>
          <a:xfrm>
            <a:off x="895826" y="2944654"/>
            <a:ext cx="955953" cy="166688"/>
          </a:xfrm>
          <a:prstGeom prst="rect">
            <a:avLst/>
          </a:prstGeom>
          <a:noFill/>
          <a:ln/>
        </p:spPr>
        <p:txBody>
          <a:bodyPr wrap="none" lIns="0" tIns="0" rIns="0" bIns="0" rtlCol="0" anchor="t"/>
          <a:lstStyle/>
          <a:p>
            <a:pPr algn="l" indent="0" marL="0">
              <a:lnSpc>
                <a:spcPts val="1300"/>
              </a:lnSpc>
              <a:buNone/>
            </a:pPr>
            <a:r>
              <a:rPr lang="en-US" sz="1050" dirty="0">
                <a:solidFill>
                  <a:srgbClr val="000000"/>
                </a:solidFill>
                <a:latin typeface="Public Sans Light" pitchFamily="34" charset="0"/>
                <a:ea typeface="Public Sans Light" pitchFamily="34" charset="-122"/>
                <a:cs typeface="Public Sans Light" pitchFamily="34" charset="-120"/>
              </a:rPr>
              <a:t>TOOLS &amp; PREP</a:t>
            </a:r>
            <a:endParaRPr lang="en-US" sz="1050" dirty="0"/>
          </a:p>
        </p:txBody>
      </p:sp>
      <p:sp>
        <p:nvSpPr>
          <p:cNvPr id="5" name="Text 2"/>
          <p:cNvSpPr/>
          <p:nvPr/>
        </p:nvSpPr>
        <p:spPr>
          <a:xfrm>
            <a:off x="793790" y="3213259"/>
            <a:ext cx="5497473" cy="531614"/>
          </a:xfrm>
          <a:prstGeom prst="rect">
            <a:avLst/>
          </a:prstGeom>
          <a:noFill/>
          <a:ln/>
        </p:spPr>
        <p:txBody>
          <a:bodyPr wrap="none" lIns="0" tIns="0" rIns="0" bIns="0" rtlCol="0" anchor="t"/>
          <a:lstStyle/>
          <a:p>
            <a:pPr algn="l" indent="0" marL="0">
              <a:lnSpc>
                <a:spcPts val="4150"/>
              </a:lnSpc>
              <a:buNone/>
            </a:pPr>
            <a:r>
              <a:rPr lang="en-US" sz="3300" dirty="0">
                <a:solidFill>
                  <a:srgbClr val="0D0D0D"/>
                </a:solidFill>
                <a:latin typeface="Source Serif 4" pitchFamily="34" charset="0"/>
                <a:ea typeface="Source Serif 4" pitchFamily="34" charset="-122"/>
                <a:cs typeface="Source Serif 4" pitchFamily="34" charset="-120"/>
              </a:rPr>
              <a:t>Tools Used &amp; Data Cleaning</a:t>
            </a:r>
            <a:endParaRPr lang="en-US" sz="3300" dirty="0"/>
          </a:p>
        </p:txBody>
      </p:sp>
      <p:sp>
        <p:nvSpPr>
          <p:cNvPr id="6" name="Text 3"/>
          <p:cNvSpPr/>
          <p:nvPr/>
        </p:nvSpPr>
        <p:spPr>
          <a:xfrm>
            <a:off x="793790" y="3872389"/>
            <a:ext cx="6313884" cy="625078"/>
          </a:xfrm>
          <a:prstGeom prst="rect">
            <a:avLst/>
          </a:prstGeom>
          <a:noFill/>
          <a:ln/>
        </p:spPr>
        <p:txBody>
          <a:bodyPr wrap="square" lIns="0" tIns="0" rIns="0" bIns="0" rtlCol="0" anchor="t"/>
          <a:lstStyle/>
          <a:p>
            <a:pPr algn="l" indent="0" marL="0">
              <a:lnSpc>
                <a:spcPts val="1600"/>
              </a:lnSpc>
              <a:buNone/>
            </a:pPr>
            <a:r>
              <a:rPr lang="en-US" sz="1300" dirty="0">
                <a:solidFill>
                  <a:srgbClr val="1B365D"/>
                </a:solidFill>
                <a:latin typeface="Public Sans Light" pitchFamily="34" charset="0"/>
                <a:ea typeface="Public Sans Light" pitchFamily="34" charset="-122"/>
                <a:cs typeface="Public Sans Light" pitchFamily="34" charset="-120"/>
              </a:rPr>
              <a:t>The analysis was conducted entirely in Microsoft Excel, using its built-in data management and visualization capabilities to transform raw records into structured, analysis-ready data.</a:t>
            </a:r>
            <a:endParaRPr lang="en-US" sz="1300" dirty="0"/>
          </a:p>
        </p:txBody>
      </p:sp>
      <p:sp>
        <p:nvSpPr>
          <p:cNvPr id="7" name="Text 4"/>
          <p:cNvSpPr/>
          <p:nvPr/>
        </p:nvSpPr>
        <p:spPr>
          <a:xfrm>
            <a:off x="793790" y="4624983"/>
            <a:ext cx="2126456" cy="273368"/>
          </a:xfrm>
          <a:prstGeom prst="rect">
            <a:avLst/>
          </a:prstGeom>
          <a:noFill/>
          <a:ln/>
        </p:spPr>
        <p:txBody>
          <a:bodyPr wrap="none" lIns="0" tIns="0" rIns="0" bIns="0" rtlCol="0" anchor="t"/>
          <a:lstStyle/>
          <a:p>
            <a:pPr algn="l" indent="0" marL="0">
              <a:lnSpc>
                <a:spcPts val="2050"/>
              </a:lnSpc>
              <a:buNone/>
            </a:pPr>
            <a:r>
              <a:rPr lang="en-US" sz="1650" dirty="0">
                <a:solidFill>
                  <a:srgbClr val="000000"/>
                </a:solidFill>
                <a:latin typeface="Source Serif 4" pitchFamily="34" charset="0"/>
                <a:ea typeface="Source Serif 4" pitchFamily="34" charset="-122"/>
                <a:cs typeface="Source Serif 4" pitchFamily="34" charset="-120"/>
              </a:rPr>
              <a:t>🧰</a:t>
            </a:r>
            <a:pPr algn="l" indent="0" marL="0">
              <a:lnSpc>
                <a:spcPts val="2050"/>
              </a:lnSpc>
              <a:buNone/>
            </a:pPr>
            <a:r>
              <a:rPr lang="en-US" sz="1650" dirty="0">
                <a:solidFill>
                  <a:srgbClr val="0D0D0D"/>
                </a:solidFill>
                <a:latin typeface="Source Serif 4" pitchFamily="34" charset="0"/>
                <a:ea typeface="Source Serif 4" pitchFamily="34" charset="-122"/>
                <a:cs typeface="Source Serif 4" pitchFamily="34" charset="-120"/>
              </a:rPr>
              <a:t> Tools Used</a:t>
            </a:r>
            <a:endParaRPr lang="en-US" sz="1650" dirty="0"/>
          </a:p>
        </p:txBody>
      </p:sp>
      <p:sp>
        <p:nvSpPr>
          <p:cNvPr id="8" name="Text 5"/>
          <p:cNvSpPr/>
          <p:nvPr/>
        </p:nvSpPr>
        <p:spPr>
          <a:xfrm>
            <a:off x="793790" y="5025866"/>
            <a:ext cx="6313884" cy="967383"/>
          </a:xfrm>
          <a:prstGeom prst="rect">
            <a:avLst/>
          </a:prstGeom>
          <a:noFill/>
          <a:ln/>
        </p:spPr>
        <p:txBody>
          <a:bodyPr wrap="square" lIns="0" tIns="0" rIns="0" bIns="0" rtlCol="0" anchor="t"/>
          <a:lstStyle/>
          <a:p>
            <a:pPr algn="l" marL="342900" indent="-342900">
              <a:lnSpc>
                <a:spcPts val="1600"/>
              </a:lnSpc>
              <a:buSzPct val="100000"/>
              <a:buChar char="•"/>
            </a:pPr>
            <a:r>
              <a:rPr lang="en-US" sz="1300" b="1" dirty="0">
                <a:solidFill>
                  <a:srgbClr val="1B365D"/>
                </a:solidFill>
                <a:latin typeface="Public Sans Light" pitchFamily="34" charset="0"/>
                <a:ea typeface="Public Sans Light" pitchFamily="34" charset="-122"/>
                <a:cs typeface="Public Sans Light" pitchFamily="34" charset="-120"/>
              </a:rPr>
              <a:t>Microsoft Excel</a:t>
            </a:r>
            <a:pPr algn="l" indent="0" marL="0">
              <a:lnSpc>
                <a:spcPts val="1600"/>
              </a:lnSpc>
              <a:buNone/>
            </a:pPr>
            <a:r>
              <a:rPr lang="en-US" sz="1300" dirty="0">
                <a:solidFill>
                  <a:srgbClr val="1B365D"/>
                </a:solidFill>
                <a:latin typeface="Public Sans Light" pitchFamily="34" charset="0"/>
                <a:ea typeface="Public Sans Light" pitchFamily="34" charset="-122"/>
                <a:cs typeface="Public Sans Light" pitchFamily="34" charset="-120"/>
              </a:rPr>
              <a:t> — primary analysis environment</a:t>
            </a:r>
            <a:endParaRPr lang="en-US" sz="1300" dirty="0"/>
          </a:p>
          <a:p>
            <a:pPr algn="l" marL="342900" indent="-342900">
              <a:lnSpc>
                <a:spcPts val="1600"/>
              </a:lnSpc>
              <a:buSzPct val="100000"/>
              <a:buChar char="•"/>
            </a:pPr>
            <a:r>
              <a:rPr lang="en-US" sz="1300" b="1" dirty="0">
                <a:solidFill>
                  <a:srgbClr val="1B365D"/>
                </a:solidFill>
                <a:latin typeface="Public Sans Light" pitchFamily="34" charset="0"/>
                <a:ea typeface="Public Sans Light" pitchFamily="34" charset="-122"/>
                <a:cs typeface="Public Sans Light" pitchFamily="34" charset="-120"/>
              </a:rPr>
              <a:t>Pivot Tables</a:t>
            </a:r>
            <a:pPr algn="l" indent="0" marL="0">
              <a:lnSpc>
                <a:spcPts val="1600"/>
              </a:lnSpc>
              <a:buNone/>
            </a:pPr>
            <a:r>
              <a:rPr lang="en-US" sz="1300" dirty="0">
                <a:solidFill>
                  <a:srgbClr val="1B365D"/>
                </a:solidFill>
                <a:latin typeface="Public Sans Light" pitchFamily="34" charset="0"/>
                <a:ea typeface="Public Sans Light" pitchFamily="34" charset="-122"/>
                <a:cs typeface="Public Sans Light" pitchFamily="34" charset="-120"/>
              </a:rPr>
              <a:t> — data summarization and aggregation</a:t>
            </a:r>
            <a:endParaRPr lang="en-US" sz="1300" dirty="0"/>
          </a:p>
          <a:p>
            <a:pPr algn="l" marL="342900" indent="-342900">
              <a:lnSpc>
                <a:spcPts val="1600"/>
              </a:lnSpc>
              <a:buSzPct val="100000"/>
              <a:buChar char="•"/>
            </a:pPr>
            <a:r>
              <a:rPr lang="en-US" sz="1300" b="1" dirty="0">
                <a:solidFill>
                  <a:srgbClr val="1B365D"/>
                </a:solidFill>
                <a:latin typeface="Public Sans Light" pitchFamily="34" charset="0"/>
                <a:ea typeface="Public Sans Light" pitchFamily="34" charset="-122"/>
                <a:cs typeface="Public Sans Light" pitchFamily="34" charset="-120"/>
              </a:rPr>
              <a:t>Charts &amp; Graphs</a:t>
            </a:r>
            <a:pPr algn="l" indent="0" marL="0">
              <a:lnSpc>
                <a:spcPts val="1600"/>
              </a:lnSpc>
              <a:buNone/>
            </a:pPr>
            <a:r>
              <a:rPr lang="en-US" sz="1300" dirty="0">
                <a:solidFill>
                  <a:srgbClr val="1B365D"/>
                </a:solidFill>
                <a:latin typeface="Public Sans Light" pitchFamily="34" charset="0"/>
                <a:ea typeface="Public Sans Light" pitchFamily="34" charset="-122"/>
                <a:cs typeface="Public Sans Light" pitchFamily="34" charset="-120"/>
              </a:rPr>
              <a:t> — visual representation of findings</a:t>
            </a:r>
            <a:endParaRPr lang="en-US" sz="1300" dirty="0"/>
          </a:p>
          <a:p>
            <a:pPr algn="l" marL="342900" indent="-342900">
              <a:lnSpc>
                <a:spcPts val="1600"/>
              </a:lnSpc>
              <a:buSzPct val="100000"/>
              <a:buChar char="•"/>
            </a:pPr>
            <a:r>
              <a:rPr lang="en-US" sz="1300" b="1" dirty="0">
                <a:solidFill>
                  <a:srgbClr val="1B365D"/>
                </a:solidFill>
                <a:latin typeface="Public Sans Light" pitchFamily="34" charset="0"/>
                <a:ea typeface="Public Sans Light" pitchFamily="34" charset="-122"/>
                <a:cs typeface="Public Sans Light" pitchFamily="34" charset="-120"/>
              </a:rPr>
              <a:t>Data Cleaning Techniques</a:t>
            </a:r>
            <a:pPr algn="l" indent="0" marL="0">
              <a:lnSpc>
                <a:spcPts val="1600"/>
              </a:lnSpc>
              <a:buNone/>
            </a:pPr>
            <a:r>
              <a:rPr lang="en-US" sz="1300" dirty="0">
                <a:solidFill>
                  <a:srgbClr val="1B365D"/>
                </a:solidFill>
                <a:latin typeface="Public Sans Light" pitchFamily="34" charset="0"/>
                <a:ea typeface="Public Sans Light" pitchFamily="34" charset="-122"/>
                <a:cs typeface="Public Sans Light" pitchFamily="34" charset="-120"/>
              </a:rPr>
              <a:t> — ensuring data integrity</a:t>
            </a:r>
            <a:endParaRPr lang="en-US" sz="1300" dirty="0"/>
          </a:p>
        </p:txBody>
      </p:sp>
      <p:sp>
        <p:nvSpPr>
          <p:cNvPr id="9" name="Text 6"/>
          <p:cNvSpPr/>
          <p:nvPr/>
        </p:nvSpPr>
        <p:spPr>
          <a:xfrm>
            <a:off x="7530346" y="2877741"/>
            <a:ext cx="2308979" cy="273368"/>
          </a:xfrm>
          <a:prstGeom prst="rect">
            <a:avLst/>
          </a:prstGeom>
          <a:noFill/>
          <a:ln/>
        </p:spPr>
        <p:txBody>
          <a:bodyPr wrap="none" lIns="0" tIns="0" rIns="0" bIns="0" rtlCol="0" anchor="t"/>
          <a:lstStyle/>
          <a:p>
            <a:pPr algn="l" indent="0" marL="0">
              <a:lnSpc>
                <a:spcPts val="2050"/>
              </a:lnSpc>
              <a:buNone/>
            </a:pPr>
            <a:r>
              <a:rPr lang="en-US" sz="1650" dirty="0">
                <a:solidFill>
                  <a:srgbClr val="000000"/>
                </a:solidFill>
                <a:latin typeface="Source Serif 4" pitchFamily="34" charset="0"/>
                <a:ea typeface="Source Serif 4" pitchFamily="34" charset="-122"/>
                <a:cs typeface="Source Serif 4" pitchFamily="34" charset="-120"/>
              </a:rPr>
              <a:t>🧹</a:t>
            </a:r>
            <a:pPr algn="l" indent="0" marL="0">
              <a:lnSpc>
                <a:spcPts val="2050"/>
              </a:lnSpc>
              <a:buNone/>
            </a:pPr>
            <a:r>
              <a:rPr lang="en-US" sz="1650" dirty="0">
                <a:solidFill>
                  <a:srgbClr val="0D0D0D"/>
                </a:solidFill>
                <a:latin typeface="Source Serif 4" pitchFamily="34" charset="0"/>
                <a:ea typeface="Source Serif 4" pitchFamily="34" charset="-122"/>
                <a:cs typeface="Source Serif 4" pitchFamily="34" charset="-120"/>
              </a:rPr>
              <a:t> Data Cleaning Steps</a:t>
            </a:r>
            <a:endParaRPr lang="en-US" sz="1650" dirty="0"/>
          </a:p>
        </p:txBody>
      </p:sp>
      <p:pic>
        <p:nvPicPr>
          <p:cNvPr id="10"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94044" y="3299817"/>
            <a:ext cx="255151" cy="255151"/>
          </a:xfrm>
          <a:prstGeom prst="rect">
            <a:avLst/>
          </a:prstGeom>
        </p:spPr>
      </p:pic>
      <p:sp>
        <p:nvSpPr>
          <p:cNvPr id="11" name="Text 7"/>
          <p:cNvSpPr/>
          <p:nvPr/>
        </p:nvSpPr>
        <p:spPr>
          <a:xfrm>
            <a:off x="8083034" y="3294578"/>
            <a:ext cx="2126456" cy="265747"/>
          </a:xfrm>
          <a:prstGeom prst="rect">
            <a:avLst/>
          </a:prstGeom>
          <a:noFill/>
          <a:ln/>
        </p:spPr>
        <p:txBody>
          <a:bodyPr wrap="none" lIns="0" tIns="0" rIns="0" bIns="0" rtlCol="0" anchor="t"/>
          <a:lstStyle/>
          <a:p>
            <a:pPr algn="l" indent="0" marL="0">
              <a:lnSpc>
                <a:spcPts val="2050"/>
              </a:lnSpc>
              <a:buNone/>
            </a:pPr>
            <a:r>
              <a:rPr lang="en-US" sz="1650" dirty="0">
                <a:solidFill>
                  <a:srgbClr val="1B365D"/>
                </a:solidFill>
                <a:latin typeface="Source Serif 4" pitchFamily="34" charset="0"/>
                <a:ea typeface="Source Serif 4" pitchFamily="34" charset="-122"/>
                <a:cs typeface="Source Serif 4" pitchFamily="34" charset="-120"/>
              </a:rPr>
              <a:t>Remove Duplicates</a:t>
            </a:r>
            <a:endParaRPr lang="en-US" sz="1650" dirty="0"/>
          </a:p>
        </p:txBody>
      </p:sp>
      <p:sp>
        <p:nvSpPr>
          <p:cNvPr id="12" name="Text 8"/>
          <p:cNvSpPr/>
          <p:nvPr/>
        </p:nvSpPr>
        <p:spPr>
          <a:xfrm>
            <a:off x="8083034" y="3687842"/>
            <a:ext cx="5761196" cy="416719"/>
          </a:xfrm>
          <a:prstGeom prst="rect">
            <a:avLst/>
          </a:prstGeom>
          <a:noFill/>
          <a:ln/>
        </p:spPr>
        <p:txBody>
          <a:bodyPr wrap="square" lIns="0" tIns="0" rIns="0" bIns="0" rtlCol="0" anchor="t"/>
          <a:lstStyle/>
          <a:p>
            <a:pPr algn="l" indent="0" marL="0">
              <a:lnSpc>
                <a:spcPts val="1600"/>
              </a:lnSpc>
              <a:buNone/>
            </a:pPr>
            <a:r>
              <a:rPr lang="en-US" sz="1300" dirty="0">
                <a:solidFill>
                  <a:srgbClr val="1B365D"/>
                </a:solidFill>
                <a:latin typeface="Public Sans Light" pitchFamily="34" charset="0"/>
                <a:ea typeface="Public Sans Light" pitchFamily="34" charset="-122"/>
                <a:cs typeface="Public Sans Light" pitchFamily="34" charset="-120"/>
              </a:rPr>
              <a:t>Identified and removed duplicate records to ensure accurate aggregation and counts.</a:t>
            </a:r>
            <a:endParaRPr lang="en-US" sz="1300" dirty="0"/>
          </a:p>
        </p:txBody>
      </p:sp>
      <p:pic>
        <p:nvPicPr>
          <p:cNvPr id="13"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594044" y="4364950"/>
            <a:ext cx="255151" cy="255151"/>
          </a:xfrm>
          <a:prstGeom prst="rect">
            <a:avLst/>
          </a:prstGeom>
        </p:spPr>
      </p:pic>
      <p:sp>
        <p:nvSpPr>
          <p:cNvPr id="14" name="Text 9"/>
          <p:cNvSpPr/>
          <p:nvPr/>
        </p:nvSpPr>
        <p:spPr>
          <a:xfrm>
            <a:off x="8083034" y="4359712"/>
            <a:ext cx="2281357" cy="265747"/>
          </a:xfrm>
          <a:prstGeom prst="rect">
            <a:avLst/>
          </a:prstGeom>
          <a:noFill/>
          <a:ln/>
        </p:spPr>
        <p:txBody>
          <a:bodyPr wrap="none" lIns="0" tIns="0" rIns="0" bIns="0" rtlCol="0" anchor="t"/>
          <a:lstStyle/>
          <a:p>
            <a:pPr algn="l" indent="0" marL="0">
              <a:lnSpc>
                <a:spcPts val="2050"/>
              </a:lnSpc>
              <a:buNone/>
            </a:pPr>
            <a:r>
              <a:rPr lang="en-US" sz="1650" dirty="0">
                <a:solidFill>
                  <a:srgbClr val="1B365D"/>
                </a:solidFill>
                <a:latin typeface="Source Serif 4" pitchFamily="34" charset="0"/>
                <a:ea typeface="Source Serif 4" pitchFamily="34" charset="-122"/>
                <a:cs typeface="Source Serif 4" pitchFamily="34" charset="-120"/>
              </a:rPr>
              <a:t>Handle Missing Values</a:t>
            </a:r>
            <a:endParaRPr lang="en-US" sz="1650" dirty="0"/>
          </a:p>
        </p:txBody>
      </p:sp>
      <p:sp>
        <p:nvSpPr>
          <p:cNvPr id="15" name="Text 10"/>
          <p:cNvSpPr/>
          <p:nvPr/>
        </p:nvSpPr>
        <p:spPr>
          <a:xfrm>
            <a:off x="8083034" y="4752975"/>
            <a:ext cx="5761196" cy="416719"/>
          </a:xfrm>
          <a:prstGeom prst="rect">
            <a:avLst/>
          </a:prstGeom>
          <a:noFill/>
          <a:ln/>
        </p:spPr>
        <p:txBody>
          <a:bodyPr wrap="square" lIns="0" tIns="0" rIns="0" bIns="0" rtlCol="0" anchor="t"/>
          <a:lstStyle/>
          <a:p>
            <a:pPr algn="l" indent="0" marL="0">
              <a:lnSpc>
                <a:spcPts val="1600"/>
              </a:lnSpc>
              <a:buNone/>
            </a:pPr>
            <a:r>
              <a:rPr lang="en-US" sz="1300" dirty="0">
                <a:solidFill>
                  <a:srgbClr val="1B365D"/>
                </a:solidFill>
                <a:latin typeface="Public Sans Light" pitchFamily="34" charset="0"/>
                <a:ea typeface="Public Sans Light" pitchFamily="34" charset="-122"/>
                <a:cs typeface="Public Sans Light" pitchFamily="34" charset="-120"/>
              </a:rPr>
              <a:t>Addressed null and blank cells across key fields including customer ID, state, and channel.</a:t>
            </a:r>
            <a:endParaRPr lang="en-US" sz="1300" dirty="0"/>
          </a:p>
        </p:txBody>
      </p:sp>
      <p:pic>
        <p:nvPicPr>
          <p:cNvPr id="16"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94044" y="5430083"/>
            <a:ext cx="255151" cy="255151"/>
          </a:xfrm>
          <a:prstGeom prst="rect">
            <a:avLst/>
          </a:prstGeom>
        </p:spPr>
      </p:pic>
      <p:sp>
        <p:nvSpPr>
          <p:cNvPr id="17" name="Text 11"/>
          <p:cNvSpPr/>
          <p:nvPr/>
        </p:nvSpPr>
        <p:spPr>
          <a:xfrm>
            <a:off x="8083034" y="5424845"/>
            <a:ext cx="2126456" cy="265747"/>
          </a:xfrm>
          <a:prstGeom prst="rect">
            <a:avLst/>
          </a:prstGeom>
          <a:noFill/>
          <a:ln/>
        </p:spPr>
        <p:txBody>
          <a:bodyPr wrap="none" lIns="0" tIns="0" rIns="0" bIns="0" rtlCol="0" anchor="t"/>
          <a:lstStyle/>
          <a:p>
            <a:pPr algn="l" indent="0" marL="0">
              <a:lnSpc>
                <a:spcPts val="2050"/>
              </a:lnSpc>
              <a:buNone/>
            </a:pPr>
            <a:r>
              <a:rPr lang="en-US" sz="1650" dirty="0">
                <a:solidFill>
                  <a:srgbClr val="1B365D"/>
                </a:solidFill>
                <a:latin typeface="Source Serif 4" pitchFamily="34" charset="0"/>
                <a:ea typeface="Source Serif 4" pitchFamily="34" charset="-122"/>
                <a:cs typeface="Source Serif 4" pitchFamily="34" charset="-120"/>
              </a:rPr>
              <a:t>Format Columns</a:t>
            </a:r>
            <a:endParaRPr lang="en-US" sz="1650" dirty="0"/>
          </a:p>
        </p:txBody>
      </p:sp>
      <p:sp>
        <p:nvSpPr>
          <p:cNvPr id="18" name="Text 12"/>
          <p:cNvSpPr/>
          <p:nvPr/>
        </p:nvSpPr>
        <p:spPr>
          <a:xfrm>
            <a:off x="8083034" y="5818108"/>
            <a:ext cx="5761196" cy="416719"/>
          </a:xfrm>
          <a:prstGeom prst="rect">
            <a:avLst/>
          </a:prstGeom>
          <a:noFill/>
          <a:ln/>
        </p:spPr>
        <p:txBody>
          <a:bodyPr wrap="square" lIns="0" tIns="0" rIns="0" bIns="0" rtlCol="0" anchor="t"/>
          <a:lstStyle/>
          <a:p>
            <a:pPr algn="l" indent="0" marL="0">
              <a:lnSpc>
                <a:spcPts val="1600"/>
              </a:lnSpc>
              <a:buNone/>
            </a:pPr>
            <a:r>
              <a:rPr lang="en-US" sz="1300" dirty="0">
                <a:solidFill>
                  <a:srgbClr val="1B365D"/>
                </a:solidFill>
                <a:latin typeface="Public Sans Light" pitchFamily="34" charset="0"/>
                <a:ea typeface="Public Sans Light" pitchFamily="34" charset="-122"/>
                <a:cs typeface="Public Sans Light" pitchFamily="34" charset="-120"/>
              </a:rPr>
              <a:t>Standardized Date, Gender, and State columns for consistent filtering and grouping.</a:t>
            </a:r>
            <a:endParaRPr lang="en-US" sz="1300" dirty="0"/>
          </a:p>
        </p:txBody>
      </p:sp>
      <p:pic>
        <p:nvPicPr>
          <p:cNvPr id="19"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594044" y="6495217"/>
            <a:ext cx="255151" cy="255151"/>
          </a:xfrm>
          <a:prstGeom prst="rect">
            <a:avLst/>
          </a:prstGeom>
        </p:spPr>
      </p:pic>
      <p:sp>
        <p:nvSpPr>
          <p:cNvPr id="20" name="Text 13"/>
          <p:cNvSpPr/>
          <p:nvPr/>
        </p:nvSpPr>
        <p:spPr>
          <a:xfrm>
            <a:off x="8083034" y="6489978"/>
            <a:ext cx="2126456" cy="265747"/>
          </a:xfrm>
          <a:prstGeom prst="rect">
            <a:avLst/>
          </a:prstGeom>
          <a:noFill/>
          <a:ln/>
        </p:spPr>
        <p:txBody>
          <a:bodyPr wrap="none" lIns="0" tIns="0" rIns="0" bIns="0" rtlCol="0" anchor="t"/>
          <a:lstStyle/>
          <a:p>
            <a:pPr algn="l" indent="0" marL="0">
              <a:lnSpc>
                <a:spcPts val="2050"/>
              </a:lnSpc>
              <a:buNone/>
            </a:pPr>
            <a:r>
              <a:rPr lang="en-US" sz="1650" dirty="0">
                <a:solidFill>
                  <a:srgbClr val="1B365D"/>
                </a:solidFill>
                <a:latin typeface="Source Serif 4" pitchFamily="34" charset="0"/>
                <a:ea typeface="Source Serif 4" pitchFamily="34" charset="-122"/>
                <a:cs typeface="Source Serif 4" pitchFamily="34" charset="-120"/>
              </a:rPr>
              <a:t>Create Age Groups</a:t>
            </a:r>
            <a:endParaRPr lang="en-US" sz="1650" dirty="0"/>
          </a:p>
        </p:txBody>
      </p:sp>
      <p:sp>
        <p:nvSpPr>
          <p:cNvPr id="21" name="Text 14"/>
          <p:cNvSpPr/>
          <p:nvPr/>
        </p:nvSpPr>
        <p:spPr>
          <a:xfrm>
            <a:off x="8083034" y="6883241"/>
            <a:ext cx="5761196" cy="416719"/>
          </a:xfrm>
          <a:prstGeom prst="rect">
            <a:avLst/>
          </a:prstGeom>
          <a:noFill/>
          <a:ln/>
        </p:spPr>
        <p:txBody>
          <a:bodyPr wrap="square" lIns="0" tIns="0" rIns="0" bIns="0" rtlCol="0" anchor="t"/>
          <a:lstStyle/>
          <a:p>
            <a:pPr algn="l" indent="0" marL="0">
              <a:lnSpc>
                <a:spcPts val="1600"/>
              </a:lnSpc>
              <a:buNone/>
            </a:pPr>
            <a:r>
              <a:rPr lang="en-US" sz="1300" dirty="0">
                <a:solidFill>
                  <a:srgbClr val="1B365D"/>
                </a:solidFill>
                <a:latin typeface="Public Sans Light" pitchFamily="34" charset="0"/>
                <a:ea typeface="Public Sans Light" pitchFamily="34" charset="-122"/>
                <a:cs typeface="Public Sans Light" pitchFamily="34" charset="-120"/>
              </a:rPr>
              <a:t>Segmented customer ages into Teen, Adult, and Senior buckets for demographic analysis.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Shape 0"/>
          <p:cNvSpPr/>
          <p:nvPr/>
        </p:nvSpPr>
        <p:spPr>
          <a:xfrm>
            <a:off x="793790" y="851059"/>
            <a:ext cx="1542336" cy="291584"/>
          </a:xfrm>
          <a:prstGeom prst="roundRect">
            <a:avLst>
              <a:gd name="adj" fmla="val 7468"/>
            </a:avLst>
          </a:prstGeom>
          <a:solidFill>
            <a:srgbClr val="F5E6CC"/>
          </a:solidFill>
          <a:ln/>
        </p:spPr>
      </p:sp>
      <p:sp>
        <p:nvSpPr>
          <p:cNvPr id="4" name="Text 1"/>
          <p:cNvSpPr/>
          <p:nvPr/>
        </p:nvSpPr>
        <p:spPr>
          <a:xfrm>
            <a:off x="902613" y="905470"/>
            <a:ext cx="1324689" cy="182761"/>
          </a:xfrm>
          <a:prstGeom prst="rect">
            <a:avLst/>
          </a:prstGeom>
          <a:noFill/>
          <a:ln/>
        </p:spPr>
        <p:txBody>
          <a:bodyPr wrap="none" lIns="0" tIns="0" rIns="0" bIns="0" rtlCol="0" anchor="t"/>
          <a:lstStyle/>
          <a:p>
            <a:pPr algn="l" indent="0" marL="0">
              <a:lnSpc>
                <a:spcPts val="1400"/>
              </a:lnSpc>
              <a:buNone/>
            </a:pPr>
            <a:r>
              <a:rPr lang="en-US" sz="1100" dirty="0">
                <a:solidFill>
                  <a:srgbClr val="000000"/>
                </a:solidFill>
                <a:latin typeface="Public Sans Light" pitchFamily="34" charset="0"/>
                <a:ea typeface="Public Sans Light" pitchFamily="34" charset="-122"/>
                <a:cs typeface="Public Sans Light" pitchFamily="34" charset="-120"/>
              </a:rPr>
              <a:t>DATA PROCESSING</a:t>
            </a:r>
            <a:endParaRPr lang="en-US" sz="1100" dirty="0"/>
          </a:p>
        </p:txBody>
      </p:sp>
      <p:sp>
        <p:nvSpPr>
          <p:cNvPr id="5" name="Text 2"/>
          <p:cNvSpPr/>
          <p:nvPr/>
        </p:nvSpPr>
        <p:spPr>
          <a:xfrm>
            <a:off x="793790" y="1200626"/>
            <a:ext cx="6326505" cy="566976"/>
          </a:xfrm>
          <a:prstGeom prst="rect">
            <a:avLst/>
          </a:prstGeom>
          <a:noFill/>
          <a:ln/>
        </p:spPr>
        <p:txBody>
          <a:bodyPr wrap="none" lIns="0" tIns="0" rIns="0" bIns="0" rtlCol="0" anchor="t"/>
          <a:lstStyle/>
          <a:p>
            <a:pPr algn="l" indent="0" marL="0">
              <a:lnSpc>
                <a:spcPts val="4450"/>
              </a:lnSpc>
              <a:buNone/>
            </a:pPr>
            <a:r>
              <a:rPr lang="en-US" sz="3550" dirty="0">
                <a:solidFill>
                  <a:srgbClr val="0D0D0D"/>
                </a:solidFill>
                <a:latin typeface="Source Serif 4" pitchFamily="34" charset="0"/>
                <a:ea typeface="Source Serif 4" pitchFamily="34" charset="-122"/>
                <a:cs typeface="Source Serif 4" pitchFamily="34" charset="-120"/>
              </a:rPr>
              <a:t>Data Processing &amp; Dashboard</a:t>
            </a:r>
            <a:endParaRPr lang="en-US" sz="3550" dirty="0"/>
          </a:p>
        </p:txBody>
      </p:sp>
      <p:sp>
        <p:nvSpPr>
          <p:cNvPr id="6" name="Text 3"/>
          <p:cNvSpPr/>
          <p:nvPr/>
        </p:nvSpPr>
        <p:spPr>
          <a:xfrm>
            <a:off x="793790" y="1985248"/>
            <a:ext cx="7556421" cy="685800"/>
          </a:xfrm>
          <a:prstGeom prst="rect">
            <a:avLst/>
          </a:prstGeom>
          <a:noFill/>
          <a:ln/>
        </p:spPr>
        <p:txBody>
          <a:bodyPr wrap="square" lIns="0" tIns="0" rIns="0" bIns="0" rtlCol="0" anchor="t"/>
          <a:lstStyle/>
          <a:p>
            <a:pPr algn="l" indent="0" marL="0">
              <a:lnSpc>
                <a:spcPts val="1800"/>
              </a:lnSpc>
              <a:buNone/>
            </a:pPr>
            <a:r>
              <a:rPr lang="en-US" sz="1400" dirty="0">
                <a:solidFill>
                  <a:srgbClr val="1B365D"/>
                </a:solidFill>
                <a:latin typeface="Public Sans Light" pitchFamily="34" charset="0"/>
                <a:ea typeface="Public Sans Light" pitchFamily="34" charset="-122"/>
                <a:cs typeface="Public Sans Light" pitchFamily="34" charset="-120"/>
              </a:rPr>
              <a:t>Raw data was converted into a structured, analysis-ready format through calculated column creation. The resulting interactive dashboard enables dynamic filtering for business insights at a glance.</a:t>
            </a:r>
            <a:endParaRPr lang="en-US" sz="1400" dirty="0"/>
          </a:p>
        </p:txBody>
      </p:sp>
      <p:sp>
        <p:nvSpPr>
          <p:cNvPr id="7" name="Shape 4"/>
          <p:cNvSpPr/>
          <p:nvPr/>
        </p:nvSpPr>
        <p:spPr>
          <a:xfrm>
            <a:off x="997863" y="2834283"/>
            <a:ext cx="22860" cy="4544139"/>
          </a:xfrm>
          <a:prstGeom prst="roundRect">
            <a:avLst>
              <a:gd name="adj" fmla="val 119070"/>
            </a:avLst>
          </a:prstGeom>
          <a:solidFill>
            <a:srgbClr val="000000">
              <a:alpha val="8000"/>
            </a:srgbClr>
          </a:solidFill>
          <a:ln/>
        </p:spPr>
      </p:sp>
      <p:sp>
        <p:nvSpPr>
          <p:cNvPr id="8" name="Shape 5"/>
          <p:cNvSpPr/>
          <p:nvPr/>
        </p:nvSpPr>
        <p:spPr>
          <a:xfrm>
            <a:off x="1179135" y="3026926"/>
            <a:ext cx="544354" cy="22860"/>
          </a:xfrm>
          <a:prstGeom prst="roundRect">
            <a:avLst>
              <a:gd name="adj" fmla="val 119070"/>
            </a:avLst>
          </a:prstGeom>
          <a:solidFill>
            <a:srgbClr val="262626"/>
          </a:solidFill>
          <a:ln/>
        </p:spPr>
      </p:sp>
      <p:sp>
        <p:nvSpPr>
          <p:cNvPr id="9" name="Shape 6"/>
          <p:cNvSpPr/>
          <p:nvPr/>
        </p:nvSpPr>
        <p:spPr>
          <a:xfrm>
            <a:off x="793730" y="2834283"/>
            <a:ext cx="408265" cy="408265"/>
          </a:xfrm>
          <a:prstGeom prst="roundRect">
            <a:avLst>
              <a:gd name="adj" fmla="val 6667"/>
            </a:avLst>
          </a:prstGeom>
          <a:solidFill>
            <a:srgbClr val="0D0D0D"/>
          </a:solidFill>
          <a:ln/>
        </p:spPr>
      </p:sp>
      <p:sp>
        <p:nvSpPr>
          <p:cNvPr id="10" name="Text 7"/>
          <p:cNvSpPr/>
          <p:nvPr/>
        </p:nvSpPr>
        <p:spPr>
          <a:xfrm>
            <a:off x="861715" y="2868275"/>
            <a:ext cx="272177" cy="340162"/>
          </a:xfrm>
          <a:prstGeom prst="rect">
            <a:avLst/>
          </a:prstGeom>
          <a:noFill/>
          <a:ln/>
        </p:spPr>
        <p:txBody>
          <a:bodyPr wrap="none" lIns="0" tIns="0" rIns="0" bIns="0" rtlCol="0" anchor="t"/>
          <a:lstStyle/>
          <a:p>
            <a:pPr algn="ctr" indent="0" marL="0">
              <a:lnSpc>
                <a:spcPts val="2100"/>
              </a:lnSpc>
              <a:buNone/>
            </a:pPr>
            <a:r>
              <a:rPr lang="en-US" sz="2100" dirty="0">
                <a:solidFill>
                  <a:srgbClr val="FFFFFF"/>
                </a:solidFill>
                <a:latin typeface="Source Serif 4" pitchFamily="34" charset="0"/>
                <a:ea typeface="Source Serif 4" pitchFamily="34" charset="-122"/>
                <a:cs typeface="Source Serif 4" pitchFamily="34" charset="-120"/>
              </a:rPr>
              <a:t>1</a:t>
            </a:r>
            <a:endParaRPr lang="en-US" sz="2100" dirty="0"/>
          </a:p>
        </p:txBody>
      </p:sp>
      <p:sp>
        <p:nvSpPr>
          <p:cNvPr id="11" name="Text 8"/>
          <p:cNvSpPr/>
          <p:nvPr/>
        </p:nvSpPr>
        <p:spPr>
          <a:xfrm>
            <a:off x="1905238" y="2868216"/>
            <a:ext cx="3404473" cy="340162"/>
          </a:xfrm>
          <a:prstGeom prst="rect">
            <a:avLst/>
          </a:prstGeom>
          <a:noFill/>
          <a:ln/>
        </p:spPr>
        <p:txBody>
          <a:bodyPr wrap="none" lIns="0" tIns="0" rIns="0" bIns="0" rtlCol="0" anchor="t"/>
          <a:lstStyle/>
          <a:p>
            <a:pPr algn="l" indent="0" marL="0">
              <a:lnSpc>
                <a:spcPts val="2650"/>
              </a:lnSpc>
              <a:buNone/>
            </a:pPr>
            <a:r>
              <a:rPr lang="en-US" sz="2100" dirty="0">
                <a:solidFill>
                  <a:srgbClr val="1B365D"/>
                </a:solidFill>
                <a:latin typeface="Source Serif 4" pitchFamily="34" charset="0"/>
                <a:ea typeface="Source Serif 4" pitchFamily="34" charset="-122"/>
                <a:cs typeface="Source Serif 4" pitchFamily="34" charset="-120"/>
              </a:rPr>
              <a:t>Step 1: Raw Data Ingestion</a:t>
            </a:r>
            <a:endParaRPr lang="en-US" sz="2100" dirty="0"/>
          </a:p>
        </p:txBody>
      </p:sp>
      <p:sp>
        <p:nvSpPr>
          <p:cNvPr id="12" name="Text 9"/>
          <p:cNvSpPr/>
          <p:nvPr/>
        </p:nvSpPr>
        <p:spPr>
          <a:xfrm>
            <a:off x="1905238" y="3295412"/>
            <a:ext cx="6444972" cy="457200"/>
          </a:xfrm>
          <a:prstGeom prst="rect">
            <a:avLst/>
          </a:prstGeom>
          <a:noFill/>
          <a:ln/>
        </p:spPr>
        <p:txBody>
          <a:bodyPr wrap="square" lIns="0" tIns="0" rIns="0" bIns="0" rtlCol="0" anchor="t"/>
          <a:lstStyle/>
          <a:p>
            <a:pPr algn="l" indent="0" marL="0">
              <a:lnSpc>
                <a:spcPts val="1800"/>
              </a:lnSpc>
              <a:buNone/>
            </a:pPr>
            <a:r>
              <a:rPr lang="en-US" sz="1400" dirty="0">
                <a:solidFill>
                  <a:srgbClr val="1B365D"/>
                </a:solidFill>
                <a:latin typeface="Public Sans Light" pitchFamily="34" charset="0"/>
                <a:ea typeface="Public Sans Light" pitchFamily="34" charset="-122"/>
                <a:cs typeface="Public Sans Light" pitchFamily="34" charset="-120"/>
              </a:rPr>
              <a:t>Imported the CreepShwal dataset into Excel and performed an initial audit of all columns, data types, and record counts.</a:t>
            </a:r>
            <a:endParaRPr lang="en-US" sz="1400" dirty="0"/>
          </a:p>
        </p:txBody>
      </p:sp>
      <p:sp>
        <p:nvSpPr>
          <p:cNvPr id="13" name="Shape 10"/>
          <p:cNvSpPr/>
          <p:nvPr/>
        </p:nvSpPr>
        <p:spPr>
          <a:xfrm>
            <a:off x="1179135" y="4235529"/>
            <a:ext cx="544354" cy="22860"/>
          </a:xfrm>
          <a:prstGeom prst="roundRect">
            <a:avLst>
              <a:gd name="adj" fmla="val 119070"/>
            </a:avLst>
          </a:prstGeom>
          <a:solidFill>
            <a:srgbClr val="344F76"/>
          </a:solidFill>
          <a:ln/>
        </p:spPr>
      </p:sp>
      <p:sp>
        <p:nvSpPr>
          <p:cNvPr id="14" name="Shape 11"/>
          <p:cNvSpPr/>
          <p:nvPr/>
        </p:nvSpPr>
        <p:spPr>
          <a:xfrm>
            <a:off x="793730" y="4042886"/>
            <a:ext cx="408265" cy="408265"/>
          </a:xfrm>
          <a:prstGeom prst="roundRect">
            <a:avLst>
              <a:gd name="adj" fmla="val 6667"/>
            </a:avLst>
          </a:prstGeom>
          <a:solidFill>
            <a:srgbClr val="1B365D"/>
          </a:solidFill>
          <a:ln/>
        </p:spPr>
      </p:sp>
      <p:sp>
        <p:nvSpPr>
          <p:cNvPr id="15" name="Text 12"/>
          <p:cNvSpPr/>
          <p:nvPr/>
        </p:nvSpPr>
        <p:spPr>
          <a:xfrm>
            <a:off x="861715" y="4076879"/>
            <a:ext cx="272177" cy="340162"/>
          </a:xfrm>
          <a:prstGeom prst="rect">
            <a:avLst/>
          </a:prstGeom>
          <a:noFill/>
          <a:ln/>
        </p:spPr>
        <p:txBody>
          <a:bodyPr wrap="none" lIns="0" tIns="0" rIns="0" bIns="0" rtlCol="0" anchor="t"/>
          <a:lstStyle/>
          <a:p>
            <a:pPr algn="ctr" indent="0" marL="0">
              <a:lnSpc>
                <a:spcPts val="2100"/>
              </a:lnSpc>
              <a:buNone/>
            </a:pPr>
            <a:r>
              <a:rPr lang="en-US" sz="2100" dirty="0">
                <a:solidFill>
                  <a:srgbClr val="FFFFFF"/>
                </a:solidFill>
                <a:latin typeface="Source Serif 4" pitchFamily="34" charset="0"/>
                <a:ea typeface="Source Serif 4" pitchFamily="34" charset="-122"/>
                <a:cs typeface="Source Serif 4" pitchFamily="34" charset="-120"/>
              </a:rPr>
              <a:t>2</a:t>
            </a:r>
            <a:endParaRPr lang="en-US" sz="2100" dirty="0"/>
          </a:p>
        </p:txBody>
      </p:sp>
      <p:sp>
        <p:nvSpPr>
          <p:cNvPr id="16" name="Text 13"/>
          <p:cNvSpPr/>
          <p:nvPr/>
        </p:nvSpPr>
        <p:spPr>
          <a:xfrm>
            <a:off x="1905238" y="4076819"/>
            <a:ext cx="3502104" cy="340162"/>
          </a:xfrm>
          <a:prstGeom prst="rect">
            <a:avLst/>
          </a:prstGeom>
          <a:noFill/>
          <a:ln/>
        </p:spPr>
        <p:txBody>
          <a:bodyPr wrap="none" lIns="0" tIns="0" rIns="0" bIns="0" rtlCol="0" anchor="t"/>
          <a:lstStyle/>
          <a:p>
            <a:pPr algn="l" indent="0" marL="0">
              <a:lnSpc>
                <a:spcPts val="2650"/>
              </a:lnSpc>
              <a:buNone/>
            </a:pPr>
            <a:r>
              <a:rPr lang="en-US" sz="2100" dirty="0">
                <a:solidFill>
                  <a:srgbClr val="1B365D"/>
                </a:solidFill>
                <a:latin typeface="Source Serif 4" pitchFamily="34" charset="0"/>
                <a:ea typeface="Source Serif 4" pitchFamily="34" charset="-122"/>
                <a:cs typeface="Source Serif 4" pitchFamily="34" charset="-120"/>
              </a:rPr>
              <a:t>Step 2: Calculated Columns</a:t>
            </a:r>
            <a:endParaRPr lang="en-US" sz="2100" dirty="0"/>
          </a:p>
        </p:txBody>
      </p:sp>
      <p:sp>
        <p:nvSpPr>
          <p:cNvPr id="17" name="Text 14"/>
          <p:cNvSpPr/>
          <p:nvPr/>
        </p:nvSpPr>
        <p:spPr>
          <a:xfrm>
            <a:off x="1905238" y="4504015"/>
            <a:ext cx="6444972" cy="457200"/>
          </a:xfrm>
          <a:prstGeom prst="rect">
            <a:avLst/>
          </a:prstGeom>
          <a:noFill/>
          <a:ln/>
        </p:spPr>
        <p:txBody>
          <a:bodyPr wrap="square" lIns="0" tIns="0" rIns="0" bIns="0" rtlCol="0" anchor="t"/>
          <a:lstStyle/>
          <a:p>
            <a:pPr algn="l" indent="0" marL="0">
              <a:lnSpc>
                <a:spcPts val="1800"/>
              </a:lnSpc>
              <a:buNone/>
            </a:pPr>
            <a:r>
              <a:rPr lang="en-US" sz="1400" dirty="0">
                <a:solidFill>
                  <a:srgbClr val="1B365D"/>
                </a:solidFill>
                <a:latin typeface="Public Sans Light" pitchFamily="34" charset="0"/>
                <a:ea typeface="Public Sans Light" pitchFamily="34" charset="-122"/>
                <a:cs typeface="Public Sans Light" pitchFamily="34" charset="-120"/>
              </a:rPr>
              <a:t>Created derived columns for </a:t>
            </a:r>
            <a:pPr algn="l" indent="0" marL="0">
              <a:lnSpc>
                <a:spcPts val="1800"/>
              </a:lnSpc>
              <a:buNone/>
            </a:pPr>
            <a:r>
              <a:rPr lang="en-US" sz="1400" b="1" dirty="0">
                <a:solidFill>
                  <a:srgbClr val="1B365D"/>
                </a:solidFill>
                <a:latin typeface="Public Sans Light" pitchFamily="34" charset="0"/>
                <a:ea typeface="Public Sans Light" pitchFamily="34" charset="-122"/>
                <a:cs typeface="Public Sans Light" pitchFamily="34" charset="-120"/>
              </a:rPr>
              <a:t>Month</a:t>
            </a:r>
            <a:pPr algn="l" indent="0" marL="0">
              <a:lnSpc>
                <a:spcPts val="1800"/>
              </a:lnSpc>
              <a:buNone/>
            </a:pPr>
            <a:r>
              <a:rPr lang="en-US" sz="1400" dirty="0">
                <a:solidFill>
                  <a:srgbClr val="1B365D"/>
                </a:solidFill>
                <a:latin typeface="Public Sans Light" pitchFamily="34" charset="0"/>
                <a:ea typeface="Public Sans Light" pitchFamily="34" charset="-122"/>
                <a:cs typeface="Public Sans Light" pitchFamily="34" charset="-120"/>
              </a:rPr>
              <a:t> (extracted from order date) and </a:t>
            </a:r>
            <a:pPr algn="l" indent="0" marL="0">
              <a:lnSpc>
                <a:spcPts val="1800"/>
              </a:lnSpc>
              <a:buNone/>
            </a:pPr>
            <a:r>
              <a:rPr lang="en-US" sz="1400" b="1" dirty="0">
                <a:solidFill>
                  <a:srgbClr val="1B365D"/>
                </a:solidFill>
                <a:latin typeface="Public Sans Light" pitchFamily="34" charset="0"/>
                <a:ea typeface="Public Sans Light" pitchFamily="34" charset="-122"/>
                <a:cs typeface="Public Sans Light" pitchFamily="34" charset="-120"/>
              </a:rPr>
              <a:t>Age Group</a:t>
            </a:r>
            <a:pPr algn="l" indent="0" marL="0">
              <a:lnSpc>
                <a:spcPts val="1800"/>
              </a:lnSpc>
              <a:buNone/>
            </a:pPr>
            <a:r>
              <a:rPr lang="en-US" sz="1400" dirty="0">
                <a:solidFill>
                  <a:srgbClr val="1B365D"/>
                </a:solidFill>
                <a:latin typeface="Public Sans Light" pitchFamily="34" charset="0"/>
                <a:ea typeface="Public Sans Light" pitchFamily="34" charset="-122"/>
                <a:cs typeface="Public Sans Light" pitchFamily="34" charset="-120"/>
              </a:rPr>
              <a:t> (binned from age field) to enable richer segmentation.</a:t>
            </a:r>
            <a:endParaRPr lang="en-US" sz="1400" dirty="0"/>
          </a:p>
        </p:txBody>
      </p:sp>
      <p:sp>
        <p:nvSpPr>
          <p:cNvPr id="18" name="Shape 15"/>
          <p:cNvSpPr/>
          <p:nvPr/>
        </p:nvSpPr>
        <p:spPr>
          <a:xfrm>
            <a:off x="1179135" y="5444133"/>
            <a:ext cx="544354" cy="22860"/>
          </a:xfrm>
          <a:prstGeom prst="roundRect">
            <a:avLst>
              <a:gd name="adj" fmla="val 119070"/>
            </a:avLst>
          </a:prstGeom>
          <a:solidFill>
            <a:srgbClr val="DBCCB2"/>
          </a:solidFill>
          <a:ln/>
        </p:spPr>
      </p:sp>
      <p:sp>
        <p:nvSpPr>
          <p:cNvPr id="19" name="Shape 16"/>
          <p:cNvSpPr/>
          <p:nvPr/>
        </p:nvSpPr>
        <p:spPr>
          <a:xfrm>
            <a:off x="793730" y="5251490"/>
            <a:ext cx="408265" cy="408265"/>
          </a:xfrm>
          <a:prstGeom prst="roundRect">
            <a:avLst>
              <a:gd name="adj" fmla="val 6667"/>
            </a:avLst>
          </a:prstGeom>
          <a:solidFill>
            <a:srgbClr val="F5E6CC"/>
          </a:solidFill>
          <a:ln/>
        </p:spPr>
      </p:sp>
      <p:sp>
        <p:nvSpPr>
          <p:cNvPr id="20" name="Text 17"/>
          <p:cNvSpPr/>
          <p:nvPr/>
        </p:nvSpPr>
        <p:spPr>
          <a:xfrm>
            <a:off x="861715" y="5285482"/>
            <a:ext cx="272177" cy="340162"/>
          </a:xfrm>
          <a:prstGeom prst="rect">
            <a:avLst/>
          </a:prstGeom>
          <a:noFill/>
          <a:ln/>
        </p:spPr>
        <p:txBody>
          <a:bodyPr wrap="none" lIns="0" tIns="0" rIns="0" bIns="0" rtlCol="0" anchor="t"/>
          <a:lstStyle/>
          <a:p>
            <a:pPr algn="ctr" indent="0" marL="0">
              <a:lnSpc>
                <a:spcPts val="2100"/>
              </a:lnSpc>
              <a:buNone/>
            </a:pPr>
            <a:r>
              <a:rPr lang="en-US" sz="2100" dirty="0">
                <a:solidFill>
                  <a:srgbClr val="000000"/>
                </a:solidFill>
                <a:latin typeface="Source Serif 4" pitchFamily="34" charset="0"/>
                <a:ea typeface="Source Serif 4" pitchFamily="34" charset="-122"/>
                <a:cs typeface="Source Serif 4" pitchFamily="34" charset="-120"/>
              </a:rPr>
              <a:t>3</a:t>
            </a:r>
            <a:endParaRPr lang="en-US" sz="2100" dirty="0"/>
          </a:p>
        </p:txBody>
      </p:sp>
      <p:sp>
        <p:nvSpPr>
          <p:cNvPr id="21" name="Text 18"/>
          <p:cNvSpPr/>
          <p:nvPr/>
        </p:nvSpPr>
        <p:spPr>
          <a:xfrm>
            <a:off x="1905238" y="5285423"/>
            <a:ext cx="4094440" cy="340162"/>
          </a:xfrm>
          <a:prstGeom prst="rect">
            <a:avLst/>
          </a:prstGeom>
          <a:noFill/>
          <a:ln/>
        </p:spPr>
        <p:txBody>
          <a:bodyPr wrap="none" lIns="0" tIns="0" rIns="0" bIns="0" rtlCol="0" anchor="t"/>
          <a:lstStyle/>
          <a:p>
            <a:pPr algn="l" indent="0" marL="0">
              <a:lnSpc>
                <a:spcPts val="2650"/>
              </a:lnSpc>
              <a:buNone/>
            </a:pPr>
            <a:r>
              <a:rPr lang="en-US" sz="2100" dirty="0">
                <a:solidFill>
                  <a:srgbClr val="1B365D"/>
                </a:solidFill>
                <a:latin typeface="Source Serif 4" pitchFamily="34" charset="0"/>
                <a:ea typeface="Source Serif 4" pitchFamily="34" charset="-122"/>
                <a:cs typeface="Source Serif 4" pitchFamily="34" charset="-120"/>
              </a:rPr>
              <a:t>Step 3: Pivot Table Construction</a:t>
            </a:r>
            <a:endParaRPr lang="en-US" sz="2100" dirty="0"/>
          </a:p>
        </p:txBody>
      </p:sp>
      <p:sp>
        <p:nvSpPr>
          <p:cNvPr id="22" name="Text 19"/>
          <p:cNvSpPr/>
          <p:nvPr/>
        </p:nvSpPr>
        <p:spPr>
          <a:xfrm>
            <a:off x="1905238" y="5712619"/>
            <a:ext cx="6444972" cy="457200"/>
          </a:xfrm>
          <a:prstGeom prst="rect">
            <a:avLst/>
          </a:prstGeom>
          <a:noFill/>
          <a:ln/>
        </p:spPr>
        <p:txBody>
          <a:bodyPr wrap="square" lIns="0" tIns="0" rIns="0" bIns="0" rtlCol="0" anchor="t"/>
          <a:lstStyle/>
          <a:p>
            <a:pPr algn="l" indent="0" marL="0">
              <a:lnSpc>
                <a:spcPts val="1800"/>
              </a:lnSpc>
              <a:buNone/>
            </a:pPr>
            <a:r>
              <a:rPr lang="en-US" sz="1400" dirty="0">
                <a:solidFill>
                  <a:srgbClr val="1B365D"/>
                </a:solidFill>
                <a:latin typeface="Public Sans Light" pitchFamily="34" charset="0"/>
                <a:ea typeface="Public Sans Light" pitchFamily="34" charset="-122"/>
                <a:cs typeface="Public Sans Light" pitchFamily="34" charset="-120"/>
              </a:rPr>
              <a:t>Built Pivot Tables summarizing sales by gender, state, channel, order status, and age group — the backbone of all analysis.</a:t>
            </a:r>
            <a:endParaRPr lang="en-US" sz="1400" dirty="0"/>
          </a:p>
        </p:txBody>
      </p:sp>
      <p:sp>
        <p:nvSpPr>
          <p:cNvPr id="23" name="Shape 20"/>
          <p:cNvSpPr/>
          <p:nvPr/>
        </p:nvSpPr>
        <p:spPr>
          <a:xfrm>
            <a:off x="1179135" y="6652736"/>
            <a:ext cx="544354" cy="22860"/>
          </a:xfrm>
          <a:prstGeom prst="roundRect">
            <a:avLst>
              <a:gd name="adj" fmla="val 119070"/>
            </a:avLst>
          </a:prstGeom>
          <a:solidFill>
            <a:srgbClr val="262626"/>
          </a:solidFill>
          <a:ln/>
        </p:spPr>
      </p:sp>
      <p:sp>
        <p:nvSpPr>
          <p:cNvPr id="24" name="Shape 21"/>
          <p:cNvSpPr/>
          <p:nvPr/>
        </p:nvSpPr>
        <p:spPr>
          <a:xfrm>
            <a:off x="793730" y="6460093"/>
            <a:ext cx="408265" cy="408265"/>
          </a:xfrm>
          <a:prstGeom prst="roundRect">
            <a:avLst>
              <a:gd name="adj" fmla="val 6667"/>
            </a:avLst>
          </a:prstGeom>
          <a:solidFill>
            <a:srgbClr val="0D0D0D"/>
          </a:solidFill>
          <a:ln/>
        </p:spPr>
      </p:sp>
      <p:sp>
        <p:nvSpPr>
          <p:cNvPr id="25" name="Text 22"/>
          <p:cNvSpPr/>
          <p:nvPr/>
        </p:nvSpPr>
        <p:spPr>
          <a:xfrm>
            <a:off x="861715" y="6494085"/>
            <a:ext cx="272177" cy="340162"/>
          </a:xfrm>
          <a:prstGeom prst="rect">
            <a:avLst/>
          </a:prstGeom>
          <a:noFill/>
          <a:ln/>
        </p:spPr>
        <p:txBody>
          <a:bodyPr wrap="none" lIns="0" tIns="0" rIns="0" bIns="0" rtlCol="0" anchor="t"/>
          <a:lstStyle/>
          <a:p>
            <a:pPr algn="ctr" indent="0" marL="0">
              <a:lnSpc>
                <a:spcPts val="2100"/>
              </a:lnSpc>
              <a:buNone/>
            </a:pPr>
            <a:r>
              <a:rPr lang="en-US" sz="2100" dirty="0">
                <a:solidFill>
                  <a:srgbClr val="FFFFFF"/>
                </a:solidFill>
                <a:latin typeface="Source Serif 4" pitchFamily="34" charset="0"/>
                <a:ea typeface="Source Serif 4" pitchFamily="34" charset="-122"/>
                <a:cs typeface="Source Serif 4" pitchFamily="34" charset="-120"/>
              </a:rPr>
              <a:t>4</a:t>
            </a:r>
            <a:endParaRPr lang="en-US" sz="2100" dirty="0"/>
          </a:p>
        </p:txBody>
      </p:sp>
      <p:sp>
        <p:nvSpPr>
          <p:cNvPr id="26" name="Text 23"/>
          <p:cNvSpPr/>
          <p:nvPr/>
        </p:nvSpPr>
        <p:spPr>
          <a:xfrm>
            <a:off x="1905238" y="6494026"/>
            <a:ext cx="3789878" cy="340162"/>
          </a:xfrm>
          <a:prstGeom prst="rect">
            <a:avLst/>
          </a:prstGeom>
          <a:noFill/>
          <a:ln/>
        </p:spPr>
        <p:txBody>
          <a:bodyPr wrap="none" lIns="0" tIns="0" rIns="0" bIns="0" rtlCol="0" anchor="t"/>
          <a:lstStyle/>
          <a:p>
            <a:pPr algn="l" indent="0" marL="0">
              <a:lnSpc>
                <a:spcPts val="2650"/>
              </a:lnSpc>
              <a:buNone/>
            </a:pPr>
            <a:r>
              <a:rPr lang="en-US" sz="2100" dirty="0">
                <a:solidFill>
                  <a:srgbClr val="1B365D"/>
                </a:solidFill>
                <a:latin typeface="Source Serif 4" pitchFamily="34" charset="0"/>
                <a:ea typeface="Source Serif 4" pitchFamily="34" charset="-122"/>
                <a:cs typeface="Source Serif 4" pitchFamily="34" charset="-120"/>
              </a:rPr>
              <a:t>Step 4: Interactive Dashboard</a:t>
            </a:r>
            <a:endParaRPr lang="en-US" sz="2100" dirty="0"/>
          </a:p>
        </p:txBody>
      </p:sp>
      <p:sp>
        <p:nvSpPr>
          <p:cNvPr id="27" name="Text 24"/>
          <p:cNvSpPr/>
          <p:nvPr/>
        </p:nvSpPr>
        <p:spPr>
          <a:xfrm>
            <a:off x="1905238" y="6921222"/>
            <a:ext cx="6444972" cy="457200"/>
          </a:xfrm>
          <a:prstGeom prst="rect">
            <a:avLst/>
          </a:prstGeom>
          <a:noFill/>
          <a:ln/>
        </p:spPr>
        <p:txBody>
          <a:bodyPr wrap="square" lIns="0" tIns="0" rIns="0" bIns="0" rtlCol="0" anchor="t"/>
          <a:lstStyle/>
          <a:p>
            <a:pPr algn="l" indent="0" marL="0">
              <a:lnSpc>
                <a:spcPts val="1800"/>
              </a:lnSpc>
              <a:buNone/>
            </a:pPr>
            <a:r>
              <a:rPr lang="en-US" sz="1400" dirty="0">
                <a:solidFill>
                  <a:srgbClr val="1B365D"/>
                </a:solidFill>
                <a:latin typeface="Public Sans Light" pitchFamily="34" charset="0"/>
                <a:ea typeface="Public Sans Light" pitchFamily="34" charset="-122"/>
                <a:cs typeface="Public Sans Light" pitchFamily="34" charset="-120"/>
              </a:rPr>
              <a:t>Assembled all charts and slicers into a single dashboard with filters for </a:t>
            </a:r>
            <a:pPr algn="l" indent="0" marL="0">
              <a:lnSpc>
                <a:spcPts val="1800"/>
              </a:lnSpc>
              <a:buNone/>
            </a:pPr>
            <a:r>
              <a:rPr lang="en-US" sz="1400" b="1" dirty="0">
                <a:solidFill>
                  <a:srgbClr val="1B365D"/>
                </a:solidFill>
                <a:latin typeface="Public Sans Light" pitchFamily="34" charset="0"/>
                <a:ea typeface="Public Sans Light" pitchFamily="34" charset="-122"/>
                <a:cs typeface="Public Sans Light" pitchFamily="34" charset="-120"/>
              </a:rPr>
              <a:t>Gender</a:t>
            </a:r>
            <a:pPr algn="l" indent="0" marL="0">
              <a:lnSpc>
                <a:spcPts val="1800"/>
              </a:lnSpc>
              <a:buNone/>
            </a:pPr>
            <a:r>
              <a:rPr lang="en-US" sz="1400" dirty="0">
                <a:solidFill>
                  <a:srgbClr val="1B365D"/>
                </a:solidFill>
                <a:latin typeface="Public Sans Light" pitchFamily="34" charset="0"/>
                <a:ea typeface="Public Sans Light" pitchFamily="34" charset="-122"/>
                <a:cs typeface="Public Sans Light" pitchFamily="34" charset="-120"/>
              </a:rPr>
              <a:t>, </a:t>
            </a:r>
            <a:pPr algn="l" indent="0" marL="0">
              <a:lnSpc>
                <a:spcPts val="1800"/>
              </a:lnSpc>
              <a:buNone/>
            </a:pPr>
            <a:r>
              <a:rPr lang="en-US" sz="1400" b="1" dirty="0">
                <a:solidFill>
                  <a:srgbClr val="1B365D"/>
                </a:solidFill>
                <a:latin typeface="Public Sans Light" pitchFamily="34" charset="0"/>
                <a:ea typeface="Public Sans Light" pitchFamily="34" charset="-122"/>
                <a:cs typeface="Public Sans Light" pitchFamily="34" charset="-120"/>
              </a:rPr>
              <a:t>Channel</a:t>
            </a:r>
            <a:pPr algn="l" indent="0" marL="0">
              <a:lnSpc>
                <a:spcPts val="1800"/>
              </a:lnSpc>
              <a:buNone/>
            </a:pPr>
            <a:r>
              <a:rPr lang="en-US" sz="1400" dirty="0">
                <a:solidFill>
                  <a:srgbClr val="1B365D"/>
                </a:solidFill>
                <a:latin typeface="Public Sans Light" pitchFamily="34" charset="0"/>
                <a:ea typeface="Public Sans Light" pitchFamily="34" charset="-122"/>
                <a:cs typeface="Public Sans Light" pitchFamily="34" charset="-120"/>
              </a:rPr>
              <a:t>, and </a:t>
            </a:r>
            <a:pPr algn="l" indent="0" marL="0">
              <a:lnSpc>
                <a:spcPts val="1800"/>
              </a:lnSpc>
              <a:buNone/>
            </a:pPr>
            <a:r>
              <a:rPr lang="en-US" sz="1400" b="1" dirty="0">
                <a:solidFill>
                  <a:srgbClr val="1B365D"/>
                </a:solidFill>
                <a:latin typeface="Public Sans Light" pitchFamily="34" charset="0"/>
                <a:ea typeface="Public Sans Light" pitchFamily="34" charset="-122"/>
                <a:cs typeface="Public Sans Light" pitchFamily="34" charset="-120"/>
              </a:rPr>
              <a:t>State</a:t>
            </a:r>
            <a:pPr algn="l" indent="0" marL="0">
              <a:lnSpc>
                <a:spcPts val="1800"/>
              </a:lnSpc>
              <a:buNone/>
            </a:pPr>
            <a:r>
              <a:rPr lang="en-US" sz="1400" dirty="0">
                <a:solidFill>
                  <a:srgbClr val="1B365D"/>
                </a:solidFill>
                <a:latin typeface="Public Sans Light" pitchFamily="34" charset="0"/>
                <a:ea typeface="Public Sans Light" pitchFamily="34" charset="-122"/>
                <a:cs typeface="Public Sans Light" pitchFamily="34" charset="-120"/>
              </a:rPr>
              <a:t> for dynamic exploration.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793790" y="847725"/>
            <a:ext cx="971669" cy="315158"/>
          </a:xfrm>
          <a:prstGeom prst="roundRect">
            <a:avLst>
              <a:gd name="adj" fmla="val 7341"/>
            </a:avLst>
          </a:prstGeom>
          <a:solidFill>
            <a:srgbClr val="F5E6CC"/>
          </a:solidFill>
          <a:ln/>
        </p:spPr>
      </p:sp>
      <p:sp>
        <p:nvSpPr>
          <p:cNvPr id="3" name="Text 1"/>
          <p:cNvSpPr/>
          <p:nvPr/>
        </p:nvSpPr>
        <p:spPr>
          <a:xfrm>
            <a:off x="909399" y="905470"/>
            <a:ext cx="740450" cy="199668"/>
          </a:xfrm>
          <a:prstGeom prst="rect">
            <a:avLst/>
          </a:prstGeom>
          <a:noFill/>
          <a:ln/>
        </p:spPr>
        <p:txBody>
          <a:bodyPr wrap="none" lIns="0" tIns="0" rIns="0" bIns="0" rtlCol="0" anchor="t"/>
          <a:lstStyle/>
          <a:p>
            <a:pPr algn="l" indent="0" marL="0">
              <a:lnSpc>
                <a:spcPts val="1550"/>
              </a:lnSpc>
              <a:buNone/>
            </a:pPr>
            <a:r>
              <a:rPr lang="en-US" sz="1200" dirty="0">
                <a:solidFill>
                  <a:srgbClr val="000000"/>
                </a:solidFill>
                <a:latin typeface="Public Sans Light" pitchFamily="34" charset="0"/>
                <a:ea typeface="Public Sans Light" pitchFamily="34" charset="-122"/>
                <a:cs typeface="Public Sans Light" pitchFamily="34" charset="-120"/>
              </a:rPr>
              <a:t>ANALYSIS</a:t>
            </a:r>
            <a:endParaRPr lang="en-US" sz="1200" dirty="0"/>
          </a:p>
        </p:txBody>
      </p:sp>
      <p:sp>
        <p:nvSpPr>
          <p:cNvPr id="4" name="Text 2"/>
          <p:cNvSpPr/>
          <p:nvPr/>
        </p:nvSpPr>
        <p:spPr>
          <a:xfrm>
            <a:off x="793790" y="1228368"/>
            <a:ext cx="7174587" cy="602456"/>
          </a:xfrm>
          <a:prstGeom prst="rect">
            <a:avLst/>
          </a:prstGeom>
          <a:noFill/>
          <a:ln/>
        </p:spPr>
        <p:txBody>
          <a:bodyPr wrap="none" lIns="0" tIns="0" rIns="0" bIns="0" rtlCol="0" anchor="t"/>
          <a:lstStyle/>
          <a:p>
            <a:pPr algn="l" indent="0" marL="0">
              <a:lnSpc>
                <a:spcPts val="4700"/>
              </a:lnSpc>
              <a:buNone/>
            </a:pPr>
            <a:r>
              <a:rPr lang="en-US" sz="3750" dirty="0">
                <a:solidFill>
                  <a:srgbClr val="0D0D0D"/>
                </a:solidFill>
                <a:latin typeface="Source Serif 4" pitchFamily="34" charset="0"/>
                <a:ea typeface="Source Serif 4" pitchFamily="34" charset="-122"/>
                <a:cs typeface="Source Serif 4" pitchFamily="34" charset="-120"/>
              </a:rPr>
              <a:t>Gender &amp; Order Status Analysis</a:t>
            </a:r>
            <a:endParaRPr lang="en-US" sz="3750" dirty="0"/>
          </a:p>
        </p:txBody>
      </p:sp>
      <p:sp>
        <p:nvSpPr>
          <p:cNvPr id="5" name="Text 3"/>
          <p:cNvSpPr/>
          <p:nvPr/>
        </p:nvSpPr>
        <p:spPr>
          <a:xfrm>
            <a:off x="793790" y="2076569"/>
            <a:ext cx="13042821" cy="499110"/>
          </a:xfrm>
          <a:prstGeom prst="rect">
            <a:avLst/>
          </a:prstGeom>
          <a:noFill/>
          <a:ln/>
        </p:spPr>
        <p:txBody>
          <a:bodyPr wrap="square" lIns="0" tIns="0" rIns="0" bIns="0" rtlCol="0" anchor="t"/>
          <a:lstStyle/>
          <a:p>
            <a:pPr algn="l" indent="0" marL="0">
              <a:lnSpc>
                <a:spcPts val="1950"/>
              </a:lnSpc>
              <a:buNone/>
            </a:pPr>
            <a:r>
              <a:rPr lang="en-US" sz="1500" dirty="0">
                <a:solidFill>
                  <a:srgbClr val="1B365D"/>
                </a:solidFill>
                <a:latin typeface="Public Sans Light" pitchFamily="34" charset="0"/>
                <a:ea typeface="Public Sans Light" pitchFamily="34" charset="-122"/>
                <a:cs typeface="Public Sans Light" pitchFamily="34" charset="-120"/>
              </a:rPr>
              <a:t>Two of the most striking findings from the dataset relate to who is buying and how successfully those orders are fulfilled — painting a clear picture of the customer base and operational reliability.</a:t>
            </a:r>
            <a:endParaRPr lang="en-US" sz="1500" dirty="0"/>
          </a:p>
        </p:txBody>
      </p:sp>
      <p:sp>
        <p:nvSpPr>
          <p:cNvPr id="6" name="Text 4"/>
          <p:cNvSpPr/>
          <p:nvPr/>
        </p:nvSpPr>
        <p:spPr>
          <a:xfrm>
            <a:off x="793790" y="2923818"/>
            <a:ext cx="2409944" cy="301228"/>
          </a:xfrm>
          <a:prstGeom prst="rect">
            <a:avLst/>
          </a:prstGeom>
          <a:noFill/>
          <a:ln/>
        </p:spPr>
        <p:txBody>
          <a:bodyPr wrap="none" lIns="0" tIns="0" rIns="0" bIns="0" rtlCol="0" anchor="t"/>
          <a:lstStyle/>
          <a:p>
            <a:pPr algn="l" indent="0" marL="0">
              <a:lnSpc>
                <a:spcPts val="2350"/>
              </a:lnSpc>
              <a:buNone/>
            </a:pPr>
            <a:r>
              <a:rPr lang="en-US" sz="1850" dirty="0">
                <a:solidFill>
                  <a:srgbClr val="000000"/>
                </a:solidFill>
                <a:latin typeface="Source Serif 4" pitchFamily="34" charset="0"/>
                <a:ea typeface="Source Serif 4" pitchFamily="34" charset="-122"/>
                <a:cs typeface="Source Serif 4" pitchFamily="34" charset="-120"/>
              </a:rPr>
              <a:t>👩</a:t>
            </a:r>
            <a:pPr algn="l" indent="0" marL="0">
              <a:lnSpc>
                <a:spcPts val="2350"/>
              </a:lnSpc>
              <a:buNone/>
            </a:pPr>
            <a:r>
              <a:rPr lang="en-US" sz="1850" dirty="0">
                <a:solidFill>
                  <a:srgbClr val="0D0D0D"/>
                </a:solidFill>
                <a:latin typeface="Source Serif 4" pitchFamily="34" charset="0"/>
                <a:ea typeface="Source Serif 4" pitchFamily="34" charset="-122"/>
                <a:cs typeface="Source Serif 4" pitchFamily="34" charset="-120"/>
              </a:rPr>
              <a:t> Gender Analysis</a:t>
            </a:r>
            <a:endParaRPr lang="en-US" sz="1850" dirty="0"/>
          </a:p>
        </p:txBody>
      </p:sp>
      <p:sp>
        <p:nvSpPr>
          <p:cNvPr id="7" name="Shape 5"/>
          <p:cNvSpPr/>
          <p:nvPr/>
        </p:nvSpPr>
        <p:spPr>
          <a:xfrm>
            <a:off x="793790" y="3409355"/>
            <a:ext cx="3061216" cy="2347913"/>
          </a:xfrm>
          <a:prstGeom prst="roundRect">
            <a:avLst>
              <a:gd name="adj" fmla="val 1232"/>
            </a:avLst>
          </a:prstGeom>
          <a:solidFill>
            <a:srgbClr val="1B365D"/>
          </a:solidFill>
          <a:ln/>
        </p:spPr>
      </p:sp>
      <p:sp>
        <p:nvSpPr>
          <p:cNvPr id="8" name="Text 6"/>
          <p:cNvSpPr/>
          <p:nvPr/>
        </p:nvSpPr>
        <p:spPr>
          <a:xfrm>
            <a:off x="986552" y="3602117"/>
            <a:ext cx="2409944" cy="301228"/>
          </a:xfrm>
          <a:prstGeom prst="rect">
            <a:avLst/>
          </a:prstGeom>
          <a:noFill/>
          <a:ln/>
        </p:spPr>
        <p:txBody>
          <a:bodyPr wrap="none" lIns="0" tIns="0" rIns="0" bIns="0" rtlCol="0" anchor="t"/>
          <a:lstStyle/>
          <a:p>
            <a:pPr algn="l" indent="0" marL="0">
              <a:lnSpc>
                <a:spcPts val="2350"/>
              </a:lnSpc>
              <a:buNone/>
            </a:pPr>
            <a:r>
              <a:rPr lang="en-US" sz="1850" dirty="0">
                <a:solidFill>
                  <a:srgbClr val="FFFFFF"/>
                </a:solidFill>
                <a:latin typeface="Source Serif 4" pitchFamily="34" charset="0"/>
                <a:ea typeface="Source Serif 4" pitchFamily="34" charset="-122"/>
                <a:cs typeface="Source Serif 4" pitchFamily="34" charset="-120"/>
              </a:rPr>
              <a:t>Women Drive Sales</a:t>
            </a:r>
            <a:endParaRPr lang="en-US" sz="1850" dirty="0"/>
          </a:p>
        </p:txBody>
      </p:sp>
      <p:sp>
        <p:nvSpPr>
          <p:cNvPr id="9" name="Text 7"/>
          <p:cNvSpPr/>
          <p:nvPr/>
        </p:nvSpPr>
        <p:spPr>
          <a:xfrm>
            <a:off x="986552" y="4067175"/>
            <a:ext cx="2675692" cy="1247775"/>
          </a:xfrm>
          <a:prstGeom prst="rect">
            <a:avLst/>
          </a:prstGeom>
          <a:noFill/>
          <a:ln/>
        </p:spPr>
        <p:txBody>
          <a:bodyPr wrap="square" lIns="0" tIns="0" rIns="0" bIns="0" rtlCol="0" anchor="t"/>
          <a:lstStyle/>
          <a:p>
            <a:pPr algn="l" indent="0" marL="0">
              <a:lnSpc>
                <a:spcPts val="1950"/>
              </a:lnSpc>
              <a:buNone/>
            </a:pPr>
            <a:r>
              <a:rPr lang="en-US" sz="1500" dirty="0">
                <a:solidFill>
                  <a:srgbClr val="FFFFFF"/>
                </a:solidFill>
                <a:latin typeface="Public Sans Light" pitchFamily="34" charset="0"/>
                <a:ea typeface="Public Sans Light" pitchFamily="34" charset="-122"/>
                <a:cs typeface="Public Sans Light" pitchFamily="34" charset="-120"/>
              </a:rPr>
              <a:t>Female customers contribute a higher proportion of total sales revenue compared to male customers across all channels and states.</a:t>
            </a:r>
            <a:endParaRPr lang="en-US" sz="1500" dirty="0"/>
          </a:p>
        </p:txBody>
      </p:sp>
      <p:sp>
        <p:nvSpPr>
          <p:cNvPr id="10" name="Shape 8"/>
          <p:cNvSpPr/>
          <p:nvPr/>
        </p:nvSpPr>
        <p:spPr>
          <a:xfrm>
            <a:off x="4018836" y="3409355"/>
            <a:ext cx="3061216" cy="2347913"/>
          </a:xfrm>
          <a:prstGeom prst="roundRect">
            <a:avLst>
              <a:gd name="adj" fmla="val 1232"/>
            </a:avLst>
          </a:prstGeom>
          <a:solidFill>
            <a:srgbClr val="1B365D"/>
          </a:solidFill>
          <a:ln/>
        </p:spPr>
      </p:sp>
      <p:sp>
        <p:nvSpPr>
          <p:cNvPr id="11" name="Text 9"/>
          <p:cNvSpPr/>
          <p:nvPr/>
        </p:nvSpPr>
        <p:spPr>
          <a:xfrm>
            <a:off x="4211598" y="3602117"/>
            <a:ext cx="2454235" cy="301228"/>
          </a:xfrm>
          <a:prstGeom prst="rect">
            <a:avLst/>
          </a:prstGeom>
          <a:noFill/>
          <a:ln/>
        </p:spPr>
        <p:txBody>
          <a:bodyPr wrap="none" lIns="0" tIns="0" rIns="0" bIns="0" rtlCol="0" anchor="t"/>
          <a:lstStyle/>
          <a:p>
            <a:pPr algn="l" indent="0" marL="0">
              <a:lnSpc>
                <a:spcPts val="2350"/>
              </a:lnSpc>
              <a:buNone/>
            </a:pPr>
            <a:r>
              <a:rPr lang="en-US" sz="1850" dirty="0">
                <a:solidFill>
                  <a:srgbClr val="FFFFFF"/>
                </a:solidFill>
                <a:latin typeface="Source Serif 4" pitchFamily="34" charset="0"/>
                <a:ea typeface="Source Serif 4" pitchFamily="34" charset="-122"/>
                <a:cs typeface="Source Serif 4" pitchFamily="34" charset="-120"/>
              </a:rPr>
              <a:t>Higher Order Volume</a:t>
            </a:r>
            <a:endParaRPr lang="en-US" sz="1850" dirty="0"/>
          </a:p>
        </p:txBody>
      </p:sp>
      <p:sp>
        <p:nvSpPr>
          <p:cNvPr id="12" name="Text 10"/>
          <p:cNvSpPr/>
          <p:nvPr/>
        </p:nvSpPr>
        <p:spPr>
          <a:xfrm>
            <a:off x="4211598" y="4067175"/>
            <a:ext cx="2675692" cy="1497330"/>
          </a:xfrm>
          <a:prstGeom prst="rect">
            <a:avLst/>
          </a:prstGeom>
          <a:noFill/>
          <a:ln/>
        </p:spPr>
        <p:txBody>
          <a:bodyPr wrap="square" lIns="0" tIns="0" rIns="0" bIns="0" rtlCol="0" anchor="t"/>
          <a:lstStyle/>
          <a:p>
            <a:pPr algn="l" indent="0" marL="0">
              <a:lnSpc>
                <a:spcPts val="1950"/>
              </a:lnSpc>
              <a:buNone/>
            </a:pPr>
            <a:r>
              <a:rPr lang="en-US" sz="1500" dirty="0">
                <a:solidFill>
                  <a:srgbClr val="FFFFFF"/>
                </a:solidFill>
                <a:latin typeface="Public Sans Light" pitchFamily="34" charset="0"/>
                <a:ea typeface="Public Sans Light" pitchFamily="34" charset="-122"/>
                <a:cs typeface="Public Sans Light" pitchFamily="34" charset="-120"/>
              </a:rPr>
              <a:t>The number of orders placed by female customers is consistently greater, making women the primary target audience for marketing campaigns.</a:t>
            </a:r>
            <a:endParaRPr lang="en-US" sz="1500" dirty="0"/>
          </a:p>
        </p:txBody>
      </p:sp>
      <p:sp>
        <p:nvSpPr>
          <p:cNvPr id="13" name="Text 11"/>
          <p:cNvSpPr/>
          <p:nvPr/>
        </p:nvSpPr>
        <p:spPr>
          <a:xfrm>
            <a:off x="7557968" y="2923818"/>
            <a:ext cx="3140512" cy="301228"/>
          </a:xfrm>
          <a:prstGeom prst="rect">
            <a:avLst/>
          </a:prstGeom>
          <a:noFill/>
          <a:ln/>
        </p:spPr>
        <p:txBody>
          <a:bodyPr wrap="none" lIns="0" tIns="0" rIns="0" bIns="0" rtlCol="0" anchor="t"/>
          <a:lstStyle/>
          <a:p>
            <a:pPr algn="l" indent="0" marL="0">
              <a:lnSpc>
                <a:spcPts val="2350"/>
              </a:lnSpc>
              <a:buNone/>
            </a:pPr>
            <a:r>
              <a:rPr lang="en-US" sz="1850" dirty="0">
                <a:solidFill>
                  <a:srgbClr val="000000"/>
                </a:solidFill>
                <a:latin typeface="Source Serif 4" pitchFamily="34" charset="0"/>
                <a:ea typeface="Source Serif 4" pitchFamily="34" charset="-122"/>
                <a:cs typeface="Source Serif 4" pitchFamily="34" charset="-120"/>
              </a:rPr>
              <a:t>📦</a:t>
            </a:r>
            <a:pPr algn="l" indent="0" marL="0">
              <a:lnSpc>
                <a:spcPts val="2350"/>
              </a:lnSpc>
              <a:buNone/>
            </a:pPr>
            <a:r>
              <a:rPr lang="en-US" sz="1850" dirty="0">
                <a:solidFill>
                  <a:srgbClr val="0D0D0D"/>
                </a:solidFill>
                <a:latin typeface="Source Serif 4" pitchFamily="34" charset="0"/>
                <a:ea typeface="Source Serif 4" pitchFamily="34" charset="-122"/>
                <a:cs typeface="Source Serif 4" pitchFamily="34" charset="-120"/>
              </a:rPr>
              <a:t> Order Status Breakdown</a:t>
            </a:r>
            <a:endParaRPr lang="en-US" sz="1850" dirty="0"/>
          </a:p>
        </p:txBody>
      </p:sp>
      <p:sp>
        <p:nvSpPr>
          <p:cNvPr id="14" name="Shape 12"/>
          <p:cNvSpPr/>
          <p:nvPr/>
        </p:nvSpPr>
        <p:spPr>
          <a:xfrm>
            <a:off x="7557968" y="3409355"/>
            <a:ext cx="3061216" cy="2649141"/>
          </a:xfrm>
          <a:prstGeom prst="roundRect">
            <a:avLst>
              <a:gd name="adj" fmla="val 1092"/>
            </a:avLst>
          </a:prstGeom>
          <a:solidFill>
            <a:srgbClr val="0D0D0D"/>
          </a:solidFill>
          <a:ln/>
        </p:spPr>
      </p:sp>
      <p:sp>
        <p:nvSpPr>
          <p:cNvPr id="15" name="Text 13"/>
          <p:cNvSpPr/>
          <p:nvPr/>
        </p:nvSpPr>
        <p:spPr>
          <a:xfrm>
            <a:off x="7750731" y="3602117"/>
            <a:ext cx="2675692" cy="602456"/>
          </a:xfrm>
          <a:prstGeom prst="rect">
            <a:avLst/>
          </a:prstGeom>
          <a:noFill/>
          <a:ln/>
        </p:spPr>
        <p:txBody>
          <a:bodyPr wrap="square" lIns="0" tIns="0" rIns="0" bIns="0" rtlCol="0" anchor="t"/>
          <a:lstStyle/>
          <a:p>
            <a:pPr algn="l" indent="0" marL="0">
              <a:lnSpc>
                <a:spcPts val="2350"/>
              </a:lnSpc>
              <a:buNone/>
            </a:pPr>
            <a:r>
              <a:rPr lang="en-US" sz="1850" dirty="0">
                <a:solidFill>
                  <a:srgbClr val="FFFFFF"/>
                </a:solidFill>
                <a:latin typeface="Source Serif 4" pitchFamily="34" charset="0"/>
                <a:ea typeface="Source Serif 4" pitchFamily="34" charset="-122"/>
                <a:cs typeface="Source Serif 4" pitchFamily="34" charset="-120"/>
              </a:rPr>
              <a:t>Delivered Orders Dominate</a:t>
            </a:r>
            <a:endParaRPr lang="en-US" sz="1850" dirty="0"/>
          </a:p>
        </p:txBody>
      </p:sp>
      <p:sp>
        <p:nvSpPr>
          <p:cNvPr id="16" name="Text 14"/>
          <p:cNvSpPr/>
          <p:nvPr/>
        </p:nvSpPr>
        <p:spPr>
          <a:xfrm>
            <a:off x="7750731" y="4368403"/>
            <a:ext cx="2675692" cy="1497330"/>
          </a:xfrm>
          <a:prstGeom prst="rect">
            <a:avLst/>
          </a:prstGeom>
          <a:noFill/>
          <a:ln/>
        </p:spPr>
        <p:txBody>
          <a:bodyPr wrap="square" lIns="0" tIns="0" rIns="0" bIns="0" rtlCol="0" anchor="t"/>
          <a:lstStyle/>
          <a:p>
            <a:pPr algn="l" indent="0" marL="0">
              <a:lnSpc>
                <a:spcPts val="1950"/>
              </a:lnSpc>
              <a:buNone/>
            </a:pPr>
            <a:r>
              <a:rPr lang="en-US" sz="1500" dirty="0">
                <a:solidFill>
                  <a:srgbClr val="FFFFFF"/>
                </a:solidFill>
                <a:latin typeface="Public Sans Light" pitchFamily="34" charset="0"/>
                <a:ea typeface="Public Sans Light" pitchFamily="34" charset="-122"/>
                <a:cs typeface="Public Sans Light" pitchFamily="34" charset="-120"/>
              </a:rPr>
              <a:t>The overwhelming majority of orders in the dataset have a </a:t>
            </a:r>
            <a:pPr algn="l" indent="0" marL="0">
              <a:lnSpc>
                <a:spcPts val="1950"/>
              </a:lnSpc>
              <a:buNone/>
            </a:pPr>
            <a:r>
              <a:rPr lang="en-US" sz="1500" b="1" dirty="0">
                <a:solidFill>
                  <a:srgbClr val="FFFFFF"/>
                </a:solidFill>
                <a:latin typeface="Public Sans Light" pitchFamily="34" charset="0"/>
                <a:ea typeface="Public Sans Light" pitchFamily="34" charset="-122"/>
                <a:cs typeface="Public Sans Light" pitchFamily="34" charset="-120"/>
              </a:rPr>
              <a:t>Delivered</a:t>
            </a:r>
            <a:pPr algn="l" indent="0" marL="0">
              <a:lnSpc>
                <a:spcPts val="1950"/>
              </a:lnSpc>
              <a:buNone/>
            </a:pPr>
            <a:r>
              <a:rPr lang="en-US" sz="1500" dirty="0">
                <a:solidFill>
                  <a:srgbClr val="FFFFFF"/>
                </a:solidFill>
                <a:latin typeface="Public Sans Light" pitchFamily="34" charset="0"/>
                <a:ea typeface="Public Sans Light" pitchFamily="34" charset="-122"/>
                <a:cs typeface="Public Sans Light" pitchFamily="34" charset="-120"/>
              </a:rPr>
              <a:t> status, indicating strong fulfillment performance across all channels.</a:t>
            </a:r>
            <a:endParaRPr lang="en-US" sz="1500" dirty="0"/>
          </a:p>
        </p:txBody>
      </p:sp>
      <p:sp>
        <p:nvSpPr>
          <p:cNvPr id="17" name="Shape 15"/>
          <p:cNvSpPr/>
          <p:nvPr/>
        </p:nvSpPr>
        <p:spPr>
          <a:xfrm>
            <a:off x="10783014" y="3409355"/>
            <a:ext cx="3061216" cy="2649141"/>
          </a:xfrm>
          <a:prstGeom prst="roundRect">
            <a:avLst>
              <a:gd name="adj" fmla="val 1092"/>
            </a:avLst>
          </a:prstGeom>
          <a:solidFill>
            <a:srgbClr val="0D0D0D"/>
          </a:solidFill>
          <a:ln/>
        </p:spPr>
      </p:sp>
      <p:sp>
        <p:nvSpPr>
          <p:cNvPr id="18" name="Text 16"/>
          <p:cNvSpPr/>
          <p:nvPr/>
        </p:nvSpPr>
        <p:spPr>
          <a:xfrm>
            <a:off x="10975777" y="3602117"/>
            <a:ext cx="2675692" cy="602456"/>
          </a:xfrm>
          <a:prstGeom prst="rect">
            <a:avLst/>
          </a:prstGeom>
          <a:noFill/>
          <a:ln/>
        </p:spPr>
        <p:txBody>
          <a:bodyPr wrap="square" lIns="0" tIns="0" rIns="0" bIns="0" rtlCol="0" anchor="t"/>
          <a:lstStyle/>
          <a:p>
            <a:pPr algn="l" indent="0" marL="0">
              <a:lnSpc>
                <a:spcPts val="2350"/>
              </a:lnSpc>
              <a:buNone/>
            </a:pPr>
            <a:r>
              <a:rPr lang="en-US" sz="1850" dirty="0">
                <a:solidFill>
                  <a:srgbClr val="FFFFFF"/>
                </a:solidFill>
                <a:latin typeface="Source Serif 4" pitchFamily="34" charset="0"/>
                <a:ea typeface="Source Serif 4" pitchFamily="34" charset="-122"/>
                <a:cs typeface="Source Serif 4" pitchFamily="34" charset="-120"/>
              </a:rPr>
              <a:t>Low Cancellation &amp; Returns</a:t>
            </a:r>
            <a:endParaRPr lang="en-US" sz="1850" dirty="0"/>
          </a:p>
        </p:txBody>
      </p:sp>
      <p:sp>
        <p:nvSpPr>
          <p:cNvPr id="19" name="Text 17"/>
          <p:cNvSpPr/>
          <p:nvPr/>
        </p:nvSpPr>
        <p:spPr>
          <a:xfrm>
            <a:off x="10975777" y="4368403"/>
            <a:ext cx="2675692" cy="1247775"/>
          </a:xfrm>
          <a:prstGeom prst="rect">
            <a:avLst/>
          </a:prstGeom>
          <a:noFill/>
          <a:ln/>
        </p:spPr>
        <p:txBody>
          <a:bodyPr wrap="square" lIns="0" tIns="0" rIns="0" bIns="0" rtlCol="0" anchor="t"/>
          <a:lstStyle/>
          <a:p>
            <a:pPr algn="l" indent="0" marL="0">
              <a:lnSpc>
                <a:spcPts val="1950"/>
              </a:lnSpc>
              <a:buNone/>
            </a:pPr>
            <a:r>
              <a:rPr lang="en-US" sz="1500" dirty="0">
                <a:solidFill>
                  <a:srgbClr val="FFFFFF"/>
                </a:solidFill>
                <a:latin typeface="Public Sans Light" pitchFamily="34" charset="0"/>
                <a:ea typeface="Public Sans Light" pitchFamily="34" charset="-122"/>
                <a:cs typeface="Public Sans Light" pitchFamily="34" charset="-120"/>
              </a:rPr>
              <a:t>Cancelled and returned orders represent a very small fraction of total records, signaling positive customer satisfaction post-purchase.</a:t>
            </a:r>
            <a:endParaRPr lang="en-US" sz="1500" dirty="0"/>
          </a:p>
        </p:txBody>
      </p:sp>
      <p:sp>
        <p:nvSpPr>
          <p:cNvPr id="20" name="Shape 18"/>
          <p:cNvSpPr/>
          <p:nvPr/>
        </p:nvSpPr>
        <p:spPr>
          <a:xfrm>
            <a:off x="793790" y="6427113"/>
            <a:ext cx="13042821" cy="954762"/>
          </a:xfrm>
          <a:prstGeom prst="roundRect">
            <a:avLst>
              <a:gd name="adj" fmla="val 3029"/>
            </a:avLst>
          </a:prstGeom>
          <a:solidFill>
            <a:srgbClr val="B6FCB8"/>
          </a:solidFill>
          <a:ln/>
        </p:spPr>
      </p:sp>
      <p:pic>
        <p:nvPicPr>
          <p:cNvPr id="21" name="Image 0" descr="preencoded.png">    </p:cNvPr>
          <p:cNvPicPr>
            <a:picLocks noChangeAspect="1"/>
          </p:cNvPicPr>
          <p:nvPr/>
        </p:nvPicPr>
        <p:blipFill>
          <a:blip r:embed="rId1"/>
          <a:stretch>
            <a:fillRect/>
          </a:stretch>
        </p:blipFill>
        <p:spPr>
          <a:xfrm>
            <a:off x="986552" y="6689765"/>
            <a:ext cx="240983" cy="192762"/>
          </a:xfrm>
          <a:prstGeom prst="rect">
            <a:avLst/>
          </a:prstGeom>
        </p:spPr>
      </p:pic>
      <p:sp>
        <p:nvSpPr>
          <p:cNvPr id="22" name="Text 19"/>
          <p:cNvSpPr/>
          <p:nvPr/>
        </p:nvSpPr>
        <p:spPr>
          <a:xfrm>
            <a:off x="1420297" y="6639044"/>
            <a:ext cx="12223552" cy="499110"/>
          </a:xfrm>
          <a:prstGeom prst="rect">
            <a:avLst/>
          </a:prstGeom>
          <a:noFill/>
          <a:ln/>
        </p:spPr>
        <p:txBody>
          <a:bodyPr wrap="square" lIns="0" tIns="0" rIns="0" bIns="0" rtlCol="0" anchor="t"/>
          <a:lstStyle/>
          <a:p>
            <a:pPr algn="l" indent="0" marL="0">
              <a:lnSpc>
                <a:spcPts val="1950"/>
              </a:lnSpc>
              <a:buNone/>
            </a:pPr>
            <a:r>
              <a:rPr lang="en-US" sz="1500" b="1" dirty="0">
                <a:solidFill>
                  <a:srgbClr val="000000"/>
                </a:solidFill>
                <a:latin typeface="Public Sans Light" pitchFamily="34" charset="0"/>
                <a:ea typeface="Public Sans Light" pitchFamily="34" charset="-122"/>
                <a:cs typeface="Public Sans Light" pitchFamily="34" charset="-120"/>
              </a:rPr>
              <a:t>Key Takeaway:</a:t>
            </a:r>
            <a:pPr algn="l" indent="0" marL="0">
              <a:lnSpc>
                <a:spcPts val="1950"/>
              </a:lnSpc>
              <a:buNone/>
            </a:pPr>
            <a:r>
              <a:rPr lang="en-US" sz="1500" dirty="0">
                <a:solidFill>
                  <a:srgbClr val="000000"/>
                </a:solidFill>
                <a:latin typeface="Public Sans Light" pitchFamily="34" charset="0"/>
                <a:ea typeface="Public Sans Light" pitchFamily="34" charset="-122"/>
                <a:cs typeface="Public Sans Light" pitchFamily="34" charset="-120"/>
              </a:rPr>
              <a:t> Female customers are the primary buyers and orders are overwhelmingly fulfilled successfully — a strong foundation for scaling operations.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1984653"/>
          </a:xfrm>
          <a:prstGeom prst="rect">
            <a:avLst/>
          </a:prstGeom>
        </p:spPr>
      </p:pic>
      <p:sp>
        <p:nvSpPr>
          <p:cNvPr id="3" name="Shape 0"/>
          <p:cNvSpPr/>
          <p:nvPr/>
        </p:nvSpPr>
        <p:spPr>
          <a:xfrm>
            <a:off x="793790" y="2608421"/>
            <a:ext cx="1822133" cy="246340"/>
          </a:xfrm>
          <a:prstGeom prst="roundRect">
            <a:avLst>
              <a:gd name="adj" fmla="val 7735"/>
            </a:avLst>
          </a:prstGeom>
          <a:solidFill>
            <a:srgbClr val="F5E6CC"/>
          </a:solidFill>
          <a:ln/>
        </p:spPr>
      </p:sp>
      <p:sp>
        <p:nvSpPr>
          <p:cNvPr id="4" name="Text 1"/>
          <p:cNvSpPr/>
          <p:nvPr/>
        </p:nvSpPr>
        <p:spPr>
          <a:xfrm>
            <a:off x="889040" y="2656046"/>
            <a:ext cx="1631633" cy="151090"/>
          </a:xfrm>
          <a:prstGeom prst="rect">
            <a:avLst/>
          </a:prstGeom>
          <a:noFill/>
          <a:ln/>
        </p:spPr>
        <p:txBody>
          <a:bodyPr wrap="none" lIns="0" tIns="0" rIns="0" bIns="0" rtlCol="0" anchor="t"/>
          <a:lstStyle/>
          <a:p>
            <a:pPr algn="l" indent="0" marL="0">
              <a:lnSpc>
                <a:spcPts val="1150"/>
              </a:lnSpc>
              <a:buNone/>
            </a:pPr>
            <a:r>
              <a:rPr lang="en-US" sz="1000" dirty="0">
                <a:solidFill>
                  <a:srgbClr val="000000"/>
                </a:solidFill>
                <a:latin typeface="Public Sans Light" pitchFamily="34" charset="0"/>
                <a:ea typeface="Public Sans Light" pitchFamily="34" charset="-122"/>
                <a:cs typeface="Public Sans Light" pitchFamily="34" charset="-120"/>
              </a:rPr>
              <a:t>GEOGRAPHY &amp; CHANNELS</a:t>
            </a:r>
            <a:endParaRPr lang="en-US" sz="1000" dirty="0"/>
          </a:p>
        </p:txBody>
      </p:sp>
      <p:sp>
        <p:nvSpPr>
          <p:cNvPr id="5" name="Text 2"/>
          <p:cNvSpPr/>
          <p:nvPr/>
        </p:nvSpPr>
        <p:spPr>
          <a:xfrm>
            <a:off x="793790" y="2899172"/>
            <a:ext cx="6717268" cy="496133"/>
          </a:xfrm>
          <a:prstGeom prst="rect">
            <a:avLst/>
          </a:prstGeom>
          <a:noFill/>
          <a:ln/>
        </p:spPr>
        <p:txBody>
          <a:bodyPr wrap="none" lIns="0" tIns="0" rIns="0" bIns="0" rtlCol="0" anchor="t"/>
          <a:lstStyle/>
          <a:p>
            <a:pPr algn="l" indent="0" marL="0">
              <a:lnSpc>
                <a:spcPts val="3900"/>
              </a:lnSpc>
              <a:buNone/>
            </a:pPr>
            <a:r>
              <a:rPr lang="en-US" sz="3100" dirty="0">
                <a:solidFill>
                  <a:srgbClr val="0D0D0D"/>
                </a:solidFill>
                <a:latin typeface="Source Serif 4" pitchFamily="34" charset="0"/>
                <a:ea typeface="Source Serif 4" pitchFamily="34" charset="-122"/>
                <a:cs typeface="Source Serif 4" pitchFamily="34" charset="-120"/>
              </a:rPr>
              <a:t>State-wise &amp; Sales Channel Analysis</a:t>
            </a:r>
            <a:endParaRPr lang="en-US" sz="3100" dirty="0"/>
          </a:p>
        </p:txBody>
      </p:sp>
      <p:sp>
        <p:nvSpPr>
          <p:cNvPr id="6" name="Text 3"/>
          <p:cNvSpPr/>
          <p:nvPr/>
        </p:nvSpPr>
        <p:spPr>
          <a:xfrm>
            <a:off x="793790" y="3561993"/>
            <a:ext cx="13042821" cy="377904"/>
          </a:xfrm>
          <a:prstGeom prst="rect">
            <a:avLst/>
          </a:prstGeom>
          <a:noFill/>
          <a:ln/>
        </p:spPr>
        <p:txBody>
          <a:bodyPr wrap="square" lIns="0" tIns="0" rIns="0" bIns="0" rtlCol="0" anchor="t"/>
          <a:lstStyle/>
          <a:p>
            <a:pPr algn="l" indent="0" marL="0">
              <a:lnSpc>
                <a:spcPts val="1450"/>
              </a:lnSpc>
              <a:buNone/>
            </a:pPr>
            <a:r>
              <a:rPr lang="en-US" sz="1250" dirty="0">
                <a:solidFill>
                  <a:srgbClr val="1B365D"/>
                </a:solidFill>
                <a:latin typeface="Public Sans Light" pitchFamily="34" charset="0"/>
                <a:ea typeface="Public Sans Light" pitchFamily="34" charset="-122"/>
                <a:cs typeface="Public Sans Light" pitchFamily="34" charset="-120"/>
              </a:rPr>
              <a:t>Understanding where sales originate geographically and which platforms generate the most revenue enables targeted investment in marketing spend, logistics, and channel partnerships.</a:t>
            </a:r>
            <a:endParaRPr lang="en-US" sz="1250" dirty="0"/>
          </a:p>
        </p:txBody>
      </p:sp>
      <p:sp>
        <p:nvSpPr>
          <p:cNvPr id="7" name="Text 4"/>
          <p:cNvSpPr/>
          <p:nvPr/>
        </p:nvSpPr>
        <p:spPr>
          <a:xfrm>
            <a:off x="793790" y="4175998"/>
            <a:ext cx="2522339" cy="248007"/>
          </a:xfrm>
          <a:prstGeom prst="rect">
            <a:avLst/>
          </a:prstGeom>
          <a:noFill/>
          <a:ln/>
        </p:spPr>
        <p:txBody>
          <a:bodyPr wrap="none" lIns="0" tIns="0" rIns="0" bIns="0" rtlCol="0" anchor="t"/>
          <a:lstStyle/>
          <a:p>
            <a:pPr algn="l" indent="0" marL="0">
              <a:lnSpc>
                <a:spcPts val="1950"/>
              </a:lnSpc>
              <a:buNone/>
            </a:pPr>
            <a:r>
              <a:rPr lang="en-US" sz="1550" dirty="0">
                <a:solidFill>
                  <a:srgbClr val="000000"/>
                </a:solidFill>
                <a:latin typeface="Source Serif 4" pitchFamily="34" charset="0"/>
                <a:ea typeface="Source Serif 4" pitchFamily="34" charset="-122"/>
                <a:cs typeface="Source Serif 4" pitchFamily="34" charset="-120"/>
              </a:rPr>
              <a:t>🌍</a:t>
            </a:r>
            <a:pPr algn="l" indent="0" marL="0">
              <a:lnSpc>
                <a:spcPts val="1950"/>
              </a:lnSpc>
              <a:buNone/>
            </a:pPr>
            <a:r>
              <a:rPr lang="en-US" sz="1550" dirty="0">
                <a:solidFill>
                  <a:srgbClr val="0D0D0D"/>
                </a:solidFill>
                <a:latin typeface="Source Serif 4" pitchFamily="34" charset="0"/>
                <a:ea typeface="Source Serif 4" pitchFamily="34" charset="-122"/>
                <a:cs typeface="Source Serif 4" pitchFamily="34" charset="-120"/>
              </a:rPr>
              <a:t> State-wise Performance</a:t>
            </a:r>
            <a:endParaRPr lang="en-US" sz="1550" dirty="0"/>
          </a:p>
        </p:txBody>
      </p:sp>
      <p:sp>
        <p:nvSpPr>
          <p:cNvPr id="8" name="Text 5"/>
          <p:cNvSpPr/>
          <p:nvPr/>
        </p:nvSpPr>
        <p:spPr>
          <a:xfrm>
            <a:off x="793790" y="4535091"/>
            <a:ext cx="6059210" cy="1628061"/>
          </a:xfrm>
          <a:prstGeom prst="rect">
            <a:avLst/>
          </a:prstGeom>
          <a:noFill/>
          <a:ln/>
        </p:spPr>
        <p:txBody>
          <a:bodyPr wrap="square" lIns="0" tIns="0" rIns="0" bIns="0" rtlCol="0" anchor="t"/>
          <a:lstStyle/>
          <a:p>
            <a:pPr algn="l" marL="342900" indent="-342900">
              <a:lnSpc>
                <a:spcPts val="1450"/>
              </a:lnSpc>
              <a:buSzPct val="100000"/>
              <a:buChar char="•"/>
            </a:pPr>
            <a:r>
              <a:rPr lang="en-US" sz="1250" dirty="0">
                <a:solidFill>
                  <a:srgbClr val="1B365D"/>
                </a:solidFill>
                <a:latin typeface="Public Sans Light" pitchFamily="34" charset="0"/>
                <a:ea typeface="Public Sans Light" pitchFamily="34" charset="-122"/>
                <a:cs typeface="Public Sans Light" pitchFamily="34" charset="-120"/>
              </a:rPr>
              <a:t>Top-performing states were identified through Pivot Table aggregation by state field.</a:t>
            </a:r>
            <a:endParaRPr lang="en-US" sz="1250" dirty="0"/>
          </a:p>
          <a:p>
            <a:pPr algn="l" marL="342900" indent="-342900">
              <a:lnSpc>
                <a:spcPts val="1450"/>
              </a:lnSpc>
              <a:buSzPct val="100000"/>
              <a:buChar char="•"/>
            </a:pPr>
            <a:r>
              <a:rPr lang="en-US" sz="1250" dirty="0">
                <a:solidFill>
                  <a:srgbClr val="1B365D"/>
                </a:solidFill>
                <a:latin typeface="Public Sans Light" pitchFamily="34" charset="0"/>
                <a:ea typeface="Public Sans Light" pitchFamily="34" charset="-122"/>
                <a:cs typeface="Public Sans Light" pitchFamily="34" charset="-120"/>
              </a:rPr>
              <a:t>Regional analysis highlights which geographies deliver the highest order volumes and revenue.</a:t>
            </a:r>
            <a:endParaRPr lang="en-US" sz="1250" dirty="0"/>
          </a:p>
          <a:p>
            <a:pPr algn="l" marL="342900" indent="-342900">
              <a:lnSpc>
                <a:spcPts val="1450"/>
              </a:lnSpc>
              <a:buSzPct val="100000"/>
              <a:buChar char="•"/>
            </a:pPr>
            <a:r>
              <a:rPr lang="en-US" sz="1250" dirty="0">
                <a:solidFill>
                  <a:srgbClr val="1B365D"/>
                </a:solidFill>
                <a:latin typeface="Public Sans Light" pitchFamily="34" charset="0"/>
                <a:ea typeface="Public Sans Light" pitchFamily="34" charset="-122"/>
                <a:cs typeface="Public Sans Light" pitchFamily="34" charset="-120"/>
              </a:rPr>
              <a:t>State-level insights directly inform regional marketing and logistics decisions, enabling focused resource allocation.</a:t>
            </a:r>
            <a:endParaRPr lang="en-US" sz="1250" dirty="0"/>
          </a:p>
          <a:p>
            <a:pPr algn="l" marL="342900" indent="-342900">
              <a:lnSpc>
                <a:spcPts val="1450"/>
              </a:lnSpc>
              <a:buSzPct val="100000"/>
              <a:buChar char="•"/>
            </a:pPr>
            <a:r>
              <a:rPr lang="en-US" sz="1250" dirty="0">
                <a:solidFill>
                  <a:srgbClr val="1B365D"/>
                </a:solidFill>
                <a:latin typeface="Public Sans Light" pitchFamily="34" charset="0"/>
                <a:ea typeface="Public Sans Light" pitchFamily="34" charset="-122"/>
                <a:cs typeface="Public Sans Light" pitchFamily="34" charset="-120"/>
              </a:rPr>
              <a:t>Lower-performing states represent growth opportunities for targeted promotional campaigns.</a:t>
            </a:r>
            <a:endParaRPr lang="en-US" sz="1250" dirty="0"/>
          </a:p>
        </p:txBody>
      </p:sp>
      <p:sp>
        <p:nvSpPr>
          <p:cNvPr id="9" name="Text 6"/>
          <p:cNvSpPr/>
          <p:nvPr/>
        </p:nvSpPr>
        <p:spPr>
          <a:xfrm>
            <a:off x="793790" y="6274237"/>
            <a:ext cx="2456378" cy="248007"/>
          </a:xfrm>
          <a:prstGeom prst="rect">
            <a:avLst/>
          </a:prstGeom>
          <a:noFill/>
          <a:ln/>
        </p:spPr>
        <p:txBody>
          <a:bodyPr wrap="none" lIns="0" tIns="0" rIns="0" bIns="0" rtlCol="0" anchor="t"/>
          <a:lstStyle/>
          <a:p>
            <a:pPr algn="l" indent="0" marL="0">
              <a:lnSpc>
                <a:spcPts val="1950"/>
              </a:lnSpc>
              <a:buNone/>
            </a:pPr>
            <a:r>
              <a:rPr lang="en-US" sz="1550" dirty="0">
                <a:solidFill>
                  <a:srgbClr val="000000"/>
                </a:solidFill>
                <a:latin typeface="Source Serif 4" pitchFamily="34" charset="0"/>
                <a:ea typeface="Source Serif 4" pitchFamily="34" charset="-122"/>
                <a:cs typeface="Source Serif 4" pitchFamily="34" charset="-120"/>
              </a:rPr>
              <a:t>🛒</a:t>
            </a:r>
            <a:pPr algn="l" indent="0" marL="0">
              <a:lnSpc>
                <a:spcPts val="1950"/>
              </a:lnSpc>
              <a:buNone/>
            </a:pPr>
            <a:r>
              <a:rPr lang="en-US" sz="1550" dirty="0">
                <a:solidFill>
                  <a:srgbClr val="0D0D0D"/>
                </a:solidFill>
                <a:latin typeface="Source Serif 4" pitchFamily="34" charset="0"/>
                <a:ea typeface="Source Serif 4" pitchFamily="34" charset="-122"/>
                <a:cs typeface="Source Serif 4" pitchFamily="34" charset="-120"/>
              </a:rPr>
              <a:t> Sales Channel Analysis</a:t>
            </a:r>
            <a:endParaRPr lang="en-US" sz="1550" dirty="0"/>
          </a:p>
        </p:txBody>
      </p:sp>
      <p:sp>
        <p:nvSpPr>
          <p:cNvPr id="10" name="Text 7"/>
          <p:cNvSpPr/>
          <p:nvPr/>
        </p:nvSpPr>
        <p:spPr>
          <a:xfrm>
            <a:off x="793790" y="6633329"/>
            <a:ext cx="6059210" cy="833438"/>
          </a:xfrm>
          <a:prstGeom prst="rect">
            <a:avLst/>
          </a:prstGeom>
          <a:noFill/>
          <a:ln/>
        </p:spPr>
        <p:txBody>
          <a:bodyPr wrap="square" lIns="0" tIns="0" rIns="0" bIns="0" rtlCol="0" anchor="t"/>
          <a:lstStyle/>
          <a:p>
            <a:pPr algn="l" marL="342900" indent="-342900">
              <a:lnSpc>
                <a:spcPts val="1450"/>
              </a:lnSpc>
              <a:buSzPct val="100000"/>
              <a:buChar char="•"/>
            </a:pPr>
            <a:r>
              <a:rPr lang="en-US" sz="1250" b="1" dirty="0">
                <a:solidFill>
                  <a:srgbClr val="1B365D"/>
                </a:solidFill>
                <a:latin typeface="Public Sans Light" pitchFamily="34" charset="0"/>
                <a:ea typeface="Public Sans Light" pitchFamily="34" charset="-122"/>
                <a:cs typeface="Public Sans Light" pitchFamily="34" charset="-120"/>
              </a:rPr>
              <a:t>Amazon, Myntra, and Ajio</a:t>
            </a:r>
            <a:pPr algn="l" indent="0" marL="0">
              <a:lnSpc>
                <a:spcPts val="1450"/>
              </a:lnSpc>
              <a:buNone/>
            </a:pPr>
            <a:r>
              <a:rPr lang="en-US" sz="1250" dirty="0">
                <a:solidFill>
                  <a:srgbClr val="1B365D"/>
                </a:solidFill>
                <a:latin typeface="Public Sans Light" pitchFamily="34" charset="0"/>
                <a:ea typeface="Public Sans Light" pitchFamily="34" charset="-122"/>
                <a:cs typeface="Public Sans Light" pitchFamily="34" charset="-120"/>
              </a:rPr>
              <a:t> emerged as the top revenue-generating platforms.</a:t>
            </a:r>
            <a:endParaRPr lang="en-US" sz="1250" dirty="0"/>
          </a:p>
          <a:p>
            <a:pPr algn="l" marL="342900" indent="-342900">
              <a:lnSpc>
                <a:spcPts val="1450"/>
              </a:lnSpc>
              <a:buSzPct val="100000"/>
              <a:buChar char="•"/>
            </a:pPr>
            <a:r>
              <a:rPr lang="en-US" sz="1250" dirty="0">
                <a:solidFill>
                  <a:srgbClr val="1B365D"/>
                </a:solidFill>
                <a:latin typeface="Public Sans Light" pitchFamily="34" charset="0"/>
                <a:ea typeface="Public Sans Light" pitchFamily="34" charset="-122"/>
                <a:cs typeface="Public Sans Light" pitchFamily="34" charset="-120"/>
              </a:rPr>
              <a:t>Online marketplaces collectively dominate total revenue across all channels.</a:t>
            </a:r>
            <a:endParaRPr lang="en-US" sz="1250" dirty="0"/>
          </a:p>
          <a:p>
            <a:pPr algn="l" marL="342900" indent="-342900">
              <a:lnSpc>
                <a:spcPts val="1450"/>
              </a:lnSpc>
              <a:buSzPct val="100000"/>
              <a:buChar char="•"/>
            </a:pPr>
            <a:r>
              <a:rPr lang="en-US" sz="1250" dirty="0">
                <a:solidFill>
                  <a:srgbClr val="1B365D"/>
                </a:solidFill>
                <a:latin typeface="Public Sans Light" pitchFamily="34" charset="0"/>
                <a:ea typeface="Public Sans Light" pitchFamily="34" charset="-122"/>
                <a:cs typeface="Public Sans Light" pitchFamily="34" charset="-120"/>
              </a:rPr>
              <a:t>Channel-level breakdown helps prioritize partnership investment and platform-specific strategies.</a:t>
            </a:r>
            <a:endParaRPr lang="en-US" sz="1250" dirty="0"/>
          </a:p>
        </p:txBody>
      </p:sp>
      <p:pic>
        <p:nvPicPr>
          <p:cNvPr id="11" name="Image 1" descr="preencoded.png">    </p:cNvPr>
          <p:cNvPicPr>
            <a:picLocks noChangeAspect="1"/>
          </p:cNvPicPr>
          <p:nvPr/>
        </p:nvPicPr>
        <p:blipFill>
          <a:blip r:embed="rId2"/>
          <a:stretch>
            <a:fillRect/>
          </a:stretch>
        </p:blipFill>
        <p:spPr>
          <a:xfrm>
            <a:off x="7247811" y="4470916"/>
            <a:ext cx="4617363" cy="2704862"/>
          </a:xfrm>
          <a:prstGeom prst="rect">
            <a:avLst/>
          </a:prstGeom>
        </p:spPr>
      </p:pic>
      <p:sp>
        <p:nvSpPr>
          <p:cNvPr id="12" name="Text 8"/>
          <p:cNvSpPr/>
          <p:nvPr/>
        </p:nvSpPr>
        <p:spPr>
          <a:xfrm>
            <a:off x="7247811" y="7254478"/>
            <a:ext cx="6596301" cy="151090"/>
          </a:xfrm>
          <a:prstGeom prst="rect">
            <a:avLst/>
          </a:prstGeom>
          <a:noFill/>
          <a:ln/>
        </p:spPr>
        <p:txBody>
          <a:bodyPr wrap="none" lIns="0" tIns="0" rIns="0" bIns="0" rtlCol="0" anchor="t"/>
          <a:lstStyle/>
          <a:p>
            <a:pPr algn="l" indent="0" marL="0">
              <a:lnSpc>
                <a:spcPts val="1150"/>
              </a:lnSpc>
              <a:buNone/>
            </a:pPr>
            <a:r>
              <a:rPr lang="en-US" sz="1000" i="1" dirty="0">
                <a:solidFill>
                  <a:srgbClr val="1B365D"/>
                </a:solidFill>
                <a:latin typeface="Public Sans Light" pitchFamily="34" charset="0"/>
                <a:ea typeface="Public Sans Light" pitchFamily="34" charset="-122"/>
                <a:cs typeface="Public Sans Light" pitchFamily="34" charset="-120"/>
              </a:rPr>
              <a:t>Illustrative relative channel distribution — replace with actual dashboard screenshot values.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793790" y="777954"/>
            <a:ext cx="1123831" cy="224552"/>
          </a:xfrm>
          <a:prstGeom prst="roundRect">
            <a:avLst>
              <a:gd name="adj" fmla="val 7879"/>
            </a:avLst>
          </a:prstGeom>
          <a:solidFill>
            <a:srgbClr val="F5E6CC"/>
          </a:solidFill>
          <a:ln/>
        </p:spPr>
      </p:sp>
      <p:sp>
        <p:nvSpPr>
          <p:cNvPr id="3" name="Text 1"/>
          <p:cNvSpPr/>
          <p:nvPr/>
        </p:nvSpPr>
        <p:spPr>
          <a:xfrm>
            <a:off x="882134" y="822127"/>
            <a:ext cx="947142" cy="136208"/>
          </a:xfrm>
          <a:prstGeom prst="rect">
            <a:avLst/>
          </a:prstGeom>
          <a:noFill/>
          <a:ln/>
        </p:spPr>
        <p:txBody>
          <a:bodyPr wrap="none" lIns="0" tIns="0" rIns="0" bIns="0" rtlCol="0" anchor="t"/>
          <a:lstStyle/>
          <a:p>
            <a:pPr algn="l" indent="0" marL="0">
              <a:lnSpc>
                <a:spcPts val="1050"/>
              </a:lnSpc>
              <a:buNone/>
            </a:pPr>
            <a:r>
              <a:rPr lang="en-US" sz="900" dirty="0">
                <a:solidFill>
                  <a:srgbClr val="000000"/>
                </a:solidFill>
                <a:latin typeface="Public Sans Light" pitchFamily="34" charset="0"/>
                <a:ea typeface="Public Sans Light" pitchFamily="34" charset="-122"/>
                <a:cs typeface="Public Sans Light" pitchFamily="34" charset="-120"/>
              </a:rPr>
              <a:t>DEMOGRAPHICS</a:t>
            </a:r>
            <a:endParaRPr lang="en-US" sz="900" dirty="0"/>
          </a:p>
        </p:txBody>
      </p:sp>
      <p:sp>
        <p:nvSpPr>
          <p:cNvPr id="4" name="Text 2"/>
          <p:cNvSpPr/>
          <p:nvPr/>
        </p:nvSpPr>
        <p:spPr>
          <a:xfrm>
            <a:off x="793790" y="1040725"/>
            <a:ext cx="4101822" cy="460772"/>
          </a:xfrm>
          <a:prstGeom prst="rect">
            <a:avLst/>
          </a:prstGeom>
          <a:noFill/>
          <a:ln/>
        </p:spPr>
        <p:txBody>
          <a:bodyPr wrap="none" lIns="0" tIns="0" rIns="0" bIns="0" rtlCol="0" anchor="t"/>
          <a:lstStyle/>
          <a:p>
            <a:pPr algn="l" indent="0" marL="0">
              <a:lnSpc>
                <a:spcPts val="3600"/>
              </a:lnSpc>
              <a:buNone/>
            </a:pPr>
            <a:r>
              <a:rPr lang="en-US" sz="2900" dirty="0">
                <a:solidFill>
                  <a:srgbClr val="0D0D0D"/>
                </a:solidFill>
                <a:latin typeface="Source Serif 4" pitchFamily="34" charset="0"/>
                <a:ea typeface="Source Serif 4" pitchFamily="34" charset="-122"/>
                <a:cs typeface="Source Serif 4" pitchFamily="34" charset="-120"/>
              </a:rPr>
              <a:t>Age vs. Gender Insights</a:t>
            </a:r>
            <a:endParaRPr lang="en-US" sz="2900" dirty="0"/>
          </a:p>
        </p:txBody>
      </p:sp>
      <p:sp>
        <p:nvSpPr>
          <p:cNvPr id="5" name="Text 3"/>
          <p:cNvSpPr/>
          <p:nvPr/>
        </p:nvSpPr>
        <p:spPr>
          <a:xfrm>
            <a:off x="793790" y="1645206"/>
            <a:ext cx="13042821" cy="170140"/>
          </a:xfrm>
          <a:prstGeom prst="rect">
            <a:avLst/>
          </a:prstGeom>
          <a:noFill/>
          <a:ln/>
        </p:spPr>
        <p:txBody>
          <a:bodyPr wrap="none" lIns="0" tIns="0" rIns="0" bIns="0" rtlCol="0" anchor="t"/>
          <a:lstStyle/>
          <a:p>
            <a:pPr algn="l" indent="0" marL="0">
              <a:lnSpc>
                <a:spcPts val="1300"/>
              </a:lnSpc>
              <a:buNone/>
            </a:pPr>
            <a:r>
              <a:rPr lang="en-US" sz="1150" dirty="0">
                <a:solidFill>
                  <a:srgbClr val="1B365D"/>
                </a:solidFill>
                <a:latin typeface="Public Sans Light" pitchFamily="34" charset="0"/>
                <a:ea typeface="Public Sans Light" pitchFamily="34" charset="-122"/>
                <a:cs typeface="Public Sans Light" pitchFamily="34" charset="-120"/>
              </a:rPr>
              <a:t>Cross-referencing age group with gender reveals the most commercially valuable customer segments and highlights where marketing efforts should be concentrated for maximum return.</a:t>
            </a:r>
            <a:endParaRPr lang="en-US" sz="1150" dirty="0"/>
          </a:p>
        </p:txBody>
      </p:sp>
      <p:pic>
        <p:nvPicPr>
          <p:cNvPr id="6" name="Image 0" descr="preencoded.png">    </p:cNvPr>
          <p:cNvPicPr>
            <a:picLocks noChangeAspect="1"/>
          </p:cNvPicPr>
          <p:nvPr/>
        </p:nvPicPr>
        <p:blipFill>
          <a:blip r:embed="rId1"/>
          <a:stretch>
            <a:fillRect/>
          </a:stretch>
        </p:blipFill>
        <p:spPr>
          <a:xfrm>
            <a:off x="3076337" y="1923098"/>
            <a:ext cx="8477726" cy="3879771"/>
          </a:xfrm>
          <a:prstGeom prst="rect">
            <a:avLst/>
          </a:prstGeom>
        </p:spPr>
      </p:pic>
      <p:sp>
        <p:nvSpPr>
          <p:cNvPr id="7" name="Text 4"/>
          <p:cNvSpPr/>
          <p:nvPr/>
        </p:nvSpPr>
        <p:spPr>
          <a:xfrm>
            <a:off x="9286296" y="2447654"/>
            <a:ext cx="1875350" cy="234419"/>
          </a:xfrm>
          <a:prstGeom prst="rect">
            <a:avLst/>
          </a:prstGeom>
          <a:noFill/>
          <a:ln/>
        </p:spPr>
        <p:txBody>
          <a:bodyPr wrap="none" lIns="0" tIns="0" rIns="0" bIns="0" rtlCol="0" anchor="t"/>
          <a:lstStyle/>
          <a:p>
            <a:pPr algn="l" indent="0" marL="0">
              <a:lnSpc>
                <a:spcPts val="1800"/>
              </a:lnSpc>
              <a:buNone/>
            </a:pPr>
            <a:r>
              <a:rPr lang="en-US" sz="1450" dirty="0">
                <a:solidFill>
                  <a:srgbClr val="1B365D"/>
                </a:solidFill>
                <a:latin typeface="Source Serif 4" pitchFamily="34" charset="0"/>
                <a:ea typeface="Source Serif 4" pitchFamily="34" charset="-122"/>
                <a:cs typeface="Source Serif 4" pitchFamily="34" charset="-120"/>
              </a:rPr>
              <a:t>Teenagers</a:t>
            </a:r>
            <a:endParaRPr lang="en-US" sz="1450" dirty="0"/>
          </a:p>
        </p:txBody>
      </p:sp>
      <p:sp>
        <p:nvSpPr>
          <p:cNvPr id="8" name="Text 5"/>
          <p:cNvSpPr/>
          <p:nvPr/>
        </p:nvSpPr>
        <p:spPr>
          <a:xfrm>
            <a:off x="9286296" y="2748752"/>
            <a:ext cx="2067052" cy="309433"/>
          </a:xfrm>
          <a:prstGeom prst="rect">
            <a:avLst/>
          </a:prstGeom>
          <a:noFill/>
          <a:ln/>
        </p:spPr>
        <p:txBody>
          <a:bodyPr wrap="square" lIns="0" tIns="0" rIns="0" bIns="0" rtlCol="0" anchor="t"/>
          <a:lstStyle/>
          <a:p>
            <a:pPr algn="l" indent="0" marL="0">
              <a:lnSpc>
                <a:spcPts val="1200"/>
              </a:lnSpc>
              <a:buNone/>
            </a:pPr>
            <a:r>
              <a:rPr lang="en-US" sz="1150" dirty="0">
                <a:solidFill>
                  <a:srgbClr val="1B365D"/>
                </a:solidFill>
                <a:latin typeface="Public Sans Light" pitchFamily="34" charset="0"/>
                <a:ea typeface="Public Sans Light" pitchFamily="34" charset="-122"/>
                <a:cs typeface="Public Sans Light" pitchFamily="34" charset="-120"/>
              </a:rPr>
              <a:t>Low contribution but growing influence</a:t>
            </a:r>
            <a:endParaRPr lang="en-US" sz="1150" dirty="0"/>
          </a:p>
        </p:txBody>
      </p:sp>
      <p:sp>
        <p:nvSpPr>
          <p:cNvPr id="9" name="Text 6"/>
          <p:cNvSpPr/>
          <p:nvPr/>
        </p:nvSpPr>
        <p:spPr>
          <a:xfrm>
            <a:off x="3301845" y="3722892"/>
            <a:ext cx="1875350" cy="234419"/>
          </a:xfrm>
          <a:prstGeom prst="rect">
            <a:avLst/>
          </a:prstGeom>
          <a:noFill/>
          <a:ln/>
        </p:spPr>
        <p:txBody>
          <a:bodyPr wrap="none" lIns="0" tIns="0" rIns="0" bIns="0" rtlCol="0" anchor="t"/>
          <a:lstStyle/>
          <a:p>
            <a:pPr algn="r" indent="0" marL="0">
              <a:lnSpc>
                <a:spcPts val="1800"/>
              </a:lnSpc>
              <a:buNone/>
            </a:pPr>
            <a:r>
              <a:rPr lang="en-US" sz="1450" dirty="0">
                <a:solidFill>
                  <a:srgbClr val="1B365D"/>
                </a:solidFill>
                <a:latin typeface="Source Serif 4" pitchFamily="34" charset="0"/>
                <a:ea typeface="Source Serif 4" pitchFamily="34" charset="-122"/>
                <a:cs typeface="Source Serif 4" pitchFamily="34" charset="-120"/>
              </a:rPr>
              <a:t>Seniors</a:t>
            </a:r>
            <a:endParaRPr lang="en-US" sz="1450" dirty="0"/>
          </a:p>
        </p:txBody>
      </p:sp>
      <p:sp>
        <p:nvSpPr>
          <p:cNvPr id="10" name="Text 7"/>
          <p:cNvSpPr/>
          <p:nvPr/>
        </p:nvSpPr>
        <p:spPr>
          <a:xfrm>
            <a:off x="3276840" y="4023990"/>
            <a:ext cx="1900355" cy="309433"/>
          </a:xfrm>
          <a:prstGeom prst="rect">
            <a:avLst/>
          </a:prstGeom>
          <a:noFill/>
          <a:ln/>
        </p:spPr>
        <p:txBody>
          <a:bodyPr wrap="square" lIns="0" tIns="0" rIns="0" bIns="0" rtlCol="0" anchor="t"/>
          <a:lstStyle/>
          <a:p>
            <a:pPr algn="r" indent="0" marL="0">
              <a:lnSpc>
                <a:spcPts val="1200"/>
              </a:lnSpc>
              <a:buNone/>
            </a:pPr>
            <a:r>
              <a:rPr lang="en-US" sz="1150" dirty="0">
                <a:solidFill>
                  <a:srgbClr val="1B365D"/>
                </a:solidFill>
                <a:latin typeface="Public Sans Light" pitchFamily="34" charset="0"/>
                <a:ea typeface="Public Sans Light" pitchFamily="34" charset="-122"/>
                <a:cs typeface="Public Sans Light" pitchFamily="34" charset="-120"/>
              </a:rPr>
              <a:t>Moderate contribution, targeted opportunities</a:t>
            </a:r>
            <a:endParaRPr lang="en-US" sz="1150" dirty="0"/>
          </a:p>
        </p:txBody>
      </p:sp>
      <p:sp>
        <p:nvSpPr>
          <p:cNvPr id="11" name="Text 8"/>
          <p:cNvSpPr/>
          <p:nvPr/>
        </p:nvSpPr>
        <p:spPr>
          <a:xfrm>
            <a:off x="9286296" y="4381348"/>
            <a:ext cx="1875350" cy="234419"/>
          </a:xfrm>
          <a:prstGeom prst="rect">
            <a:avLst/>
          </a:prstGeom>
          <a:noFill/>
          <a:ln/>
        </p:spPr>
        <p:txBody>
          <a:bodyPr wrap="none" lIns="0" tIns="0" rIns="0" bIns="0" rtlCol="0" anchor="t"/>
          <a:lstStyle/>
          <a:p>
            <a:pPr algn="l" indent="0" marL="0">
              <a:lnSpc>
                <a:spcPts val="1800"/>
              </a:lnSpc>
              <a:buNone/>
            </a:pPr>
            <a:r>
              <a:rPr lang="en-US" sz="1450" dirty="0">
                <a:solidFill>
                  <a:srgbClr val="1B365D"/>
                </a:solidFill>
                <a:latin typeface="Source Serif 4" pitchFamily="34" charset="0"/>
                <a:ea typeface="Source Serif 4" pitchFamily="34" charset="-122"/>
                <a:cs typeface="Source Serif 4" pitchFamily="34" charset="-120"/>
              </a:rPr>
              <a:t>Adults</a:t>
            </a:r>
            <a:endParaRPr lang="en-US" sz="1450" dirty="0"/>
          </a:p>
        </p:txBody>
      </p:sp>
      <p:sp>
        <p:nvSpPr>
          <p:cNvPr id="12" name="Text 9"/>
          <p:cNvSpPr/>
          <p:nvPr/>
        </p:nvSpPr>
        <p:spPr>
          <a:xfrm>
            <a:off x="9286296" y="4682446"/>
            <a:ext cx="2067052" cy="309433"/>
          </a:xfrm>
          <a:prstGeom prst="rect">
            <a:avLst/>
          </a:prstGeom>
          <a:noFill/>
          <a:ln/>
        </p:spPr>
        <p:txBody>
          <a:bodyPr wrap="square" lIns="0" tIns="0" rIns="0" bIns="0" rtlCol="0" anchor="t"/>
          <a:lstStyle/>
          <a:p>
            <a:pPr algn="l" indent="0" marL="0">
              <a:lnSpc>
                <a:spcPts val="1200"/>
              </a:lnSpc>
              <a:buNone/>
            </a:pPr>
            <a:r>
              <a:rPr lang="en-US" sz="1150" dirty="0">
                <a:solidFill>
                  <a:srgbClr val="1B365D"/>
                </a:solidFill>
                <a:latin typeface="Public Sans Light" pitchFamily="34" charset="0"/>
                <a:ea typeface="Public Sans Light" pitchFamily="34" charset="-122"/>
                <a:cs typeface="Public Sans Light" pitchFamily="34" charset="-120"/>
              </a:rPr>
              <a:t>Primary buyers—highest contribution to sales</a:t>
            </a:r>
            <a:endParaRPr lang="en-US" sz="1150" dirty="0"/>
          </a:p>
        </p:txBody>
      </p:sp>
      <p:sp>
        <p:nvSpPr>
          <p:cNvPr id="13" name="Text 10"/>
          <p:cNvSpPr/>
          <p:nvPr/>
        </p:nvSpPr>
        <p:spPr>
          <a:xfrm>
            <a:off x="793790" y="5910620"/>
            <a:ext cx="13042821" cy="340281"/>
          </a:xfrm>
          <a:prstGeom prst="rect">
            <a:avLst/>
          </a:prstGeom>
          <a:noFill/>
          <a:ln/>
        </p:spPr>
        <p:txBody>
          <a:bodyPr wrap="square" lIns="0" tIns="0" rIns="0" bIns="0" rtlCol="0" anchor="t"/>
          <a:lstStyle/>
          <a:p>
            <a:pPr algn="l" indent="0" marL="0">
              <a:lnSpc>
                <a:spcPts val="1300"/>
              </a:lnSpc>
              <a:buNone/>
            </a:pPr>
            <a:r>
              <a:rPr lang="en-US" sz="1150" dirty="0">
                <a:solidFill>
                  <a:srgbClr val="1B365D"/>
                </a:solidFill>
                <a:latin typeface="Public Sans Light" pitchFamily="34" charset="0"/>
                <a:ea typeface="Public Sans Light" pitchFamily="34" charset="-122"/>
                <a:cs typeface="Public Sans Light" pitchFamily="34" charset="-120"/>
              </a:rPr>
              <a:t>The Adult age group stands out as the dominant driver of sales across both genders. Teenagers and Senior customers contribute meaningfully but at significantly lower volumes, suggesting that campaigns should prioritize Adult demographics while using tailored messaging for the other segments.</a:t>
            </a:r>
            <a:endParaRPr lang="en-US" sz="1150" dirty="0"/>
          </a:p>
        </p:txBody>
      </p:sp>
      <p:sp>
        <p:nvSpPr>
          <p:cNvPr id="14" name="Shape 11"/>
          <p:cNvSpPr/>
          <p:nvPr/>
        </p:nvSpPr>
        <p:spPr>
          <a:xfrm>
            <a:off x="793790" y="6358652"/>
            <a:ext cx="13042821" cy="1092994"/>
          </a:xfrm>
          <a:prstGeom prst="roundRect">
            <a:avLst>
              <a:gd name="adj" fmla="val 2023"/>
            </a:avLst>
          </a:prstGeom>
          <a:solidFill>
            <a:srgbClr val="1B365D"/>
          </a:solidFill>
          <a:ln/>
        </p:spPr>
      </p:sp>
      <p:sp>
        <p:nvSpPr>
          <p:cNvPr id="15" name="Shape 12"/>
          <p:cNvSpPr/>
          <p:nvPr/>
        </p:nvSpPr>
        <p:spPr>
          <a:xfrm>
            <a:off x="793790" y="6358652"/>
            <a:ext cx="4347567" cy="1092994"/>
          </a:xfrm>
          <a:prstGeom prst="roundRect">
            <a:avLst>
              <a:gd name="adj" fmla="val 2023"/>
            </a:avLst>
          </a:prstGeom>
          <a:solidFill>
            <a:srgbClr val="1B365D"/>
          </a:solidFill>
          <a:ln/>
        </p:spPr>
      </p:sp>
      <p:sp>
        <p:nvSpPr>
          <p:cNvPr id="16" name="Text 13"/>
          <p:cNvSpPr/>
          <p:nvPr/>
        </p:nvSpPr>
        <p:spPr>
          <a:xfrm>
            <a:off x="941189" y="6506051"/>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000000"/>
                </a:solidFill>
                <a:latin typeface="Source Serif 4" pitchFamily="34" charset="0"/>
                <a:ea typeface="Source Serif 4" pitchFamily="34" charset="-122"/>
                <a:cs typeface="Source Serif 4" pitchFamily="34" charset="-120"/>
              </a:rPr>
              <a:t>👦</a:t>
            </a:r>
            <a:pPr algn="l" indent="0" marL="0">
              <a:lnSpc>
                <a:spcPts val="1800"/>
              </a:lnSpc>
              <a:buNone/>
            </a:pPr>
            <a:r>
              <a:rPr lang="en-US" sz="1450" dirty="0">
                <a:solidFill>
                  <a:srgbClr val="FFFFFF"/>
                </a:solidFill>
                <a:latin typeface="Source Serif 4" pitchFamily="34" charset="0"/>
                <a:ea typeface="Source Serif 4" pitchFamily="34" charset="-122"/>
                <a:cs typeface="Source Serif 4" pitchFamily="34" charset="-120"/>
              </a:rPr>
              <a:t> Teenagers</a:t>
            </a:r>
            <a:endParaRPr lang="en-US" sz="1450" dirty="0"/>
          </a:p>
        </p:txBody>
      </p:sp>
      <p:sp>
        <p:nvSpPr>
          <p:cNvPr id="17" name="Text 14"/>
          <p:cNvSpPr/>
          <p:nvPr/>
        </p:nvSpPr>
        <p:spPr>
          <a:xfrm>
            <a:off x="941189" y="6793825"/>
            <a:ext cx="4052768" cy="510421"/>
          </a:xfrm>
          <a:prstGeom prst="rect">
            <a:avLst/>
          </a:prstGeom>
          <a:noFill/>
          <a:ln/>
        </p:spPr>
        <p:txBody>
          <a:bodyPr wrap="square" lIns="0" tIns="0" rIns="0" bIns="0" rtlCol="0" anchor="t"/>
          <a:lstStyle/>
          <a:p>
            <a:pPr algn="l" indent="0" marL="0">
              <a:lnSpc>
                <a:spcPts val="1300"/>
              </a:lnSpc>
              <a:buNone/>
            </a:pPr>
            <a:r>
              <a:rPr lang="en-US" sz="1150" dirty="0">
                <a:solidFill>
                  <a:srgbClr val="FFFFFF"/>
                </a:solidFill>
                <a:latin typeface="Public Sans Light" pitchFamily="34" charset="0"/>
                <a:ea typeface="Public Sans Light" pitchFamily="34" charset="-122"/>
                <a:cs typeface="Public Sans Light" pitchFamily="34" charset="-120"/>
              </a:rPr>
              <a:t>Contribute the </a:t>
            </a:r>
            <a:pPr algn="l" indent="0" marL="0">
              <a:lnSpc>
                <a:spcPts val="1300"/>
              </a:lnSpc>
              <a:buNone/>
            </a:pPr>
            <a:r>
              <a:rPr lang="en-US" sz="1150" b="1" dirty="0">
                <a:solidFill>
                  <a:srgbClr val="FFFFFF"/>
                </a:solidFill>
                <a:latin typeface="Public Sans Light" pitchFamily="34" charset="0"/>
                <a:ea typeface="Public Sans Light" pitchFamily="34" charset="-122"/>
                <a:cs typeface="Public Sans Light" pitchFamily="34" charset="-120"/>
              </a:rPr>
              <a:t>least</a:t>
            </a:r>
            <a:pPr algn="l" indent="0" marL="0">
              <a:lnSpc>
                <a:spcPts val="1300"/>
              </a:lnSpc>
              <a:buNone/>
            </a:pPr>
            <a:r>
              <a:rPr lang="en-US" sz="1150" dirty="0">
                <a:solidFill>
                  <a:srgbClr val="FFFFFF"/>
                </a:solidFill>
                <a:latin typeface="Public Sans Light" pitchFamily="34" charset="0"/>
                <a:ea typeface="Public Sans Light" pitchFamily="34" charset="-122"/>
                <a:cs typeface="Public Sans Light" pitchFamily="34" charset="-120"/>
              </a:rPr>
              <a:t> to overall sales. Represent a growth opportunity with the right product categories and social-media-led campaigns.</a:t>
            </a:r>
            <a:endParaRPr lang="en-US" sz="1150" dirty="0"/>
          </a:p>
        </p:txBody>
      </p:sp>
      <p:sp>
        <p:nvSpPr>
          <p:cNvPr id="18" name="Shape 15"/>
          <p:cNvSpPr/>
          <p:nvPr/>
        </p:nvSpPr>
        <p:spPr>
          <a:xfrm>
            <a:off x="5141357" y="6358652"/>
            <a:ext cx="4347567" cy="1092994"/>
          </a:xfrm>
          <a:prstGeom prst="rect">
            <a:avLst/>
          </a:prstGeom>
          <a:solidFill>
            <a:srgbClr val="1B365D"/>
          </a:solidFill>
          <a:ln/>
        </p:spPr>
      </p:sp>
      <p:sp>
        <p:nvSpPr>
          <p:cNvPr id="19" name="Shape 16"/>
          <p:cNvSpPr/>
          <p:nvPr/>
        </p:nvSpPr>
        <p:spPr>
          <a:xfrm>
            <a:off x="5141357" y="6358652"/>
            <a:ext cx="15240" cy="1092994"/>
          </a:xfrm>
          <a:prstGeom prst="roundRect">
            <a:avLst>
              <a:gd name="adj" fmla="val 145116"/>
            </a:avLst>
          </a:prstGeom>
          <a:solidFill>
            <a:srgbClr val="344F76"/>
          </a:solidFill>
          <a:ln/>
        </p:spPr>
      </p:sp>
      <p:sp>
        <p:nvSpPr>
          <p:cNvPr id="20" name="Text 17"/>
          <p:cNvSpPr/>
          <p:nvPr/>
        </p:nvSpPr>
        <p:spPr>
          <a:xfrm>
            <a:off x="5288756" y="6506051"/>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000000"/>
                </a:solidFill>
                <a:latin typeface="Source Serif 4" pitchFamily="34" charset="0"/>
                <a:ea typeface="Source Serif 4" pitchFamily="34" charset="-122"/>
                <a:cs typeface="Source Serif 4" pitchFamily="34" charset="-120"/>
              </a:rPr>
              <a:t>🧑</a:t>
            </a:r>
            <a:pPr algn="l" indent="0" marL="0">
              <a:lnSpc>
                <a:spcPts val="1800"/>
              </a:lnSpc>
              <a:buNone/>
            </a:pPr>
            <a:r>
              <a:rPr lang="en-US" sz="1450" dirty="0">
                <a:solidFill>
                  <a:srgbClr val="FFFFFF"/>
                </a:solidFill>
                <a:latin typeface="Source Serif 4" pitchFamily="34" charset="0"/>
                <a:ea typeface="Source Serif 4" pitchFamily="34" charset="-122"/>
                <a:cs typeface="Source Serif 4" pitchFamily="34" charset="-120"/>
              </a:rPr>
              <a:t> Adults</a:t>
            </a:r>
            <a:endParaRPr lang="en-US" sz="1450" dirty="0"/>
          </a:p>
        </p:txBody>
      </p:sp>
      <p:sp>
        <p:nvSpPr>
          <p:cNvPr id="21" name="Text 18"/>
          <p:cNvSpPr/>
          <p:nvPr/>
        </p:nvSpPr>
        <p:spPr>
          <a:xfrm>
            <a:off x="5288756" y="6793825"/>
            <a:ext cx="4052768" cy="510421"/>
          </a:xfrm>
          <a:prstGeom prst="rect">
            <a:avLst/>
          </a:prstGeom>
          <a:noFill/>
          <a:ln/>
        </p:spPr>
        <p:txBody>
          <a:bodyPr wrap="square" lIns="0" tIns="0" rIns="0" bIns="0" rtlCol="0" anchor="t"/>
          <a:lstStyle/>
          <a:p>
            <a:pPr algn="l" indent="0" marL="0">
              <a:lnSpc>
                <a:spcPts val="1300"/>
              </a:lnSpc>
              <a:buNone/>
            </a:pPr>
            <a:r>
              <a:rPr lang="en-US" sz="1150" dirty="0">
                <a:solidFill>
                  <a:srgbClr val="FFFFFF"/>
                </a:solidFill>
                <a:latin typeface="Public Sans Light" pitchFamily="34" charset="0"/>
                <a:ea typeface="Public Sans Light" pitchFamily="34" charset="-122"/>
                <a:cs typeface="Public Sans Light" pitchFamily="34" charset="-120"/>
              </a:rPr>
              <a:t>The </a:t>
            </a:r>
            <a:pPr algn="l" indent="0" marL="0">
              <a:lnSpc>
                <a:spcPts val="1300"/>
              </a:lnSpc>
              <a:buNone/>
            </a:pPr>
            <a:r>
              <a:rPr lang="en-US" sz="1150" b="1" dirty="0">
                <a:solidFill>
                  <a:srgbClr val="FFFFFF"/>
                </a:solidFill>
                <a:latin typeface="Public Sans Light" pitchFamily="34" charset="0"/>
                <a:ea typeface="Public Sans Light" pitchFamily="34" charset="-122"/>
                <a:cs typeface="Public Sans Light" pitchFamily="34" charset="-120"/>
              </a:rPr>
              <a:t>highest-contributing</a:t>
            </a:r>
            <a:pPr algn="l" indent="0" marL="0">
              <a:lnSpc>
                <a:spcPts val="1300"/>
              </a:lnSpc>
              <a:buNone/>
            </a:pPr>
            <a:r>
              <a:rPr lang="en-US" sz="1150" dirty="0">
                <a:solidFill>
                  <a:srgbClr val="FFFFFF"/>
                </a:solidFill>
                <a:latin typeface="Public Sans Light" pitchFamily="34" charset="0"/>
                <a:ea typeface="Public Sans Light" pitchFamily="34" charset="-122"/>
                <a:cs typeface="Public Sans Light" pitchFamily="34" charset="-120"/>
              </a:rPr>
              <a:t> age group across genders. Female adults in particular drive the greatest purchase volumes — the primary target segment.</a:t>
            </a:r>
            <a:endParaRPr lang="en-US" sz="1150" dirty="0"/>
          </a:p>
        </p:txBody>
      </p:sp>
      <p:sp>
        <p:nvSpPr>
          <p:cNvPr id="22" name="Shape 19"/>
          <p:cNvSpPr/>
          <p:nvPr/>
        </p:nvSpPr>
        <p:spPr>
          <a:xfrm>
            <a:off x="9488924" y="6358652"/>
            <a:ext cx="4347567" cy="1092994"/>
          </a:xfrm>
          <a:prstGeom prst="rect">
            <a:avLst/>
          </a:prstGeom>
          <a:solidFill>
            <a:srgbClr val="1B365D"/>
          </a:solidFill>
          <a:ln/>
        </p:spPr>
      </p:sp>
      <p:sp>
        <p:nvSpPr>
          <p:cNvPr id="23" name="Shape 20"/>
          <p:cNvSpPr/>
          <p:nvPr/>
        </p:nvSpPr>
        <p:spPr>
          <a:xfrm>
            <a:off x="9488924" y="6358652"/>
            <a:ext cx="15240" cy="1092994"/>
          </a:xfrm>
          <a:prstGeom prst="roundRect">
            <a:avLst>
              <a:gd name="adj" fmla="val 145116"/>
            </a:avLst>
          </a:prstGeom>
          <a:solidFill>
            <a:srgbClr val="344F76"/>
          </a:solidFill>
          <a:ln/>
        </p:spPr>
      </p:sp>
      <p:sp>
        <p:nvSpPr>
          <p:cNvPr id="24" name="Text 21"/>
          <p:cNvSpPr/>
          <p:nvPr/>
        </p:nvSpPr>
        <p:spPr>
          <a:xfrm>
            <a:off x="9636323" y="6506051"/>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000000"/>
                </a:solidFill>
                <a:latin typeface="Source Serif 4" pitchFamily="34" charset="0"/>
                <a:ea typeface="Source Serif 4" pitchFamily="34" charset="-122"/>
                <a:cs typeface="Source Serif 4" pitchFamily="34" charset="-120"/>
              </a:rPr>
              <a:t>👴</a:t>
            </a:r>
            <a:pPr algn="l" indent="0" marL="0">
              <a:lnSpc>
                <a:spcPts val="1800"/>
              </a:lnSpc>
              <a:buNone/>
            </a:pPr>
            <a:r>
              <a:rPr lang="en-US" sz="1450" dirty="0">
                <a:solidFill>
                  <a:srgbClr val="FFFFFF"/>
                </a:solidFill>
                <a:latin typeface="Source Serif 4" pitchFamily="34" charset="0"/>
                <a:ea typeface="Source Serif 4" pitchFamily="34" charset="-122"/>
                <a:cs typeface="Source Serif 4" pitchFamily="34" charset="-120"/>
              </a:rPr>
              <a:t> Seniors</a:t>
            </a:r>
            <a:endParaRPr lang="en-US" sz="1450" dirty="0"/>
          </a:p>
        </p:txBody>
      </p:sp>
      <p:sp>
        <p:nvSpPr>
          <p:cNvPr id="25" name="Text 22"/>
          <p:cNvSpPr/>
          <p:nvPr/>
        </p:nvSpPr>
        <p:spPr>
          <a:xfrm>
            <a:off x="9636323" y="6793825"/>
            <a:ext cx="4052768" cy="510421"/>
          </a:xfrm>
          <a:prstGeom prst="rect">
            <a:avLst/>
          </a:prstGeom>
          <a:noFill/>
          <a:ln/>
        </p:spPr>
        <p:txBody>
          <a:bodyPr wrap="square" lIns="0" tIns="0" rIns="0" bIns="0" rtlCol="0" anchor="t"/>
          <a:lstStyle/>
          <a:p>
            <a:pPr algn="l" indent="0" marL="0">
              <a:lnSpc>
                <a:spcPts val="1300"/>
              </a:lnSpc>
              <a:buNone/>
            </a:pPr>
            <a:r>
              <a:rPr lang="en-US" sz="1150" dirty="0">
                <a:solidFill>
                  <a:srgbClr val="FFFFFF"/>
                </a:solidFill>
                <a:latin typeface="Public Sans Light" pitchFamily="34" charset="0"/>
                <a:ea typeface="Public Sans Light" pitchFamily="34" charset="-122"/>
                <a:cs typeface="Public Sans Light" pitchFamily="34" charset="-120"/>
              </a:rPr>
              <a:t>Contribute </a:t>
            </a:r>
            <a:pPr algn="l" indent="0" marL="0">
              <a:lnSpc>
                <a:spcPts val="1300"/>
              </a:lnSpc>
              <a:buNone/>
            </a:pPr>
            <a:r>
              <a:rPr lang="en-US" sz="1150" b="1" dirty="0">
                <a:solidFill>
                  <a:srgbClr val="FFFFFF"/>
                </a:solidFill>
                <a:latin typeface="Public Sans Light" pitchFamily="34" charset="0"/>
                <a:ea typeface="Public Sans Light" pitchFamily="34" charset="-122"/>
                <a:cs typeface="Public Sans Light" pitchFamily="34" charset="-120"/>
              </a:rPr>
              <a:t>less than adults</a:t>
            </a:r>
            <a:pPr algn="l" indent="0" marL="0">
              <a:lnSpc>
                <a:spcPts val="1300"/>
              </a:lnSpc>
              <a:buNone/>
            </a:pPr>
            <a:r>
              <a:rPr lang="en-US" sz="1150" dirty="0">
                <a:solidFill>
                  <a:srgbClr val="FFFFFF"/>
                </a:solidFill>
                <a:latin typeface="Public Sans Light" pitchFamily="34" charset="0"/>
                <a:ea typeface="Public Sans Light" pitchFamily="34" charset="-122"/>
                <a:cs typeface="Public Sans Light" pitchFamily="34" charset="-120"/>
              </a:rPr>
              <a:t> but more than teenagers. Specialized product offerings and ease-of-purchase improvements could boost this segment.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Shape 0"/>
          <p:cNvSpPr/>
          <p:nvPr/>
        </p:nvSpPr>
        <p:spPr>
          <a:xfrm>
            <a:off x="6280190" y="726758"/>
            <a:ext cx="1135618" cy="268605"/>
          </a:xfrm>
          <a:prstGeom prst="roundRect">
            <a:avLst>
              <a:gd name="adj" fmla="val 7600"/>
            </a:avLst>
          </a:prstGeom>
          <a:solidFill>
            <a:srgbClr val="F5E6CC"/>
          </a:solidFill>
          <a:ln/>
        </p:spPr>
      </p:sp>
      <p:sp>
        <p:nvSpPr>
          <p:cNvPr id="4" name="Text 1"/>
          <p:cNvSpPr/>
          <p:nvPr/>
        </p:nvSpPr>
        <p:spPr>
          <a:xfrm>
            <a:off x="6382226" y="777716"/>
            <a:ext cx="931545" cy="166688"/>
          </a:xfrm>
          <a:prstGeom prst="rect">
            <a:avLst/>
          </a:prstGeom>
          <a:noFill/>
          <a:ln/>
        </p:spPr>
        <p:txBody>
          <a:bodyPr wrap="none" lIns="0" tIns="0" rIns="0" bIns="0" rtlCol="0" anchor="t"/>
          <a:lstStyle/>
          <a:p>
            <a:pPr algn="l" indent="0" marL="0">
              <a:lnSpc>
                <a:spcPts val="1300"/>
              </a:lnSpc>
              <a:buNone/>
            </a:pPr>
            <a:r>
              <a:rPr lang="en-US" sz="1050" dirty="0">
                <a:solidFill>
                  <a:srgbClr val="000000"/>
                </a:solidFill>
                <a:latin typeface="Public Sans Light" pitchFamily="34" charset="0"/>
                <a:ea typeface="Public Sans Light" pitchFamily="34" charset="-122"/>
                <a:cs typeface="Public Sans Light" pitchFamily="34" charset="-120"/>
              </a:rPr>
              <a:t>KEY INSIGHTS</a:t>
            </a:r>
            <a:endParaRPr lang="en-US" sz="1050" dirty="0"/>
          </a:p>
        </p:txBody>
      </p:sp>
      <p:sp>
        <p:nvSpPr>
          <p:cNvPr id="5" name="Text 2"/>
          <p:cNvSpPr/>
          <p:nvPr/>
        </p:nvSpPr>
        <p:spPr>
          <a:xfrm>
            <a:off x="6280190" y="1046321"/>
            <a:ext cx="6312098" cy="531614"/>
          </a:xfrm>
          <a:prstGeom prst="rect">
            <a:avLst/>
          </a:prstGeom>
          <a:noFill/>
          <a:ln/>
        </p:spPr>
        <p:txBody>
          <a:bodyPr wrap="none" lIns="0" tIns="0" rIns="0" bIns="0" rtlCol="0" anchor="t"/>
          <a:lstStyle/>
          <a:p>
            <a:pPr algn="l" indent="0" marL="0">
              <a:lnSpc>
                <a:spcPts val="4150"/>
              </a:lnSpc>
              <a:buNone/>
            </a:pPr>
            <a:r>
              <a:rPr lang="en-US" sz="3300" dirty="0">
                <a:solidFill>
                  <a:srgbClr val="0D0D0D"/>
                </a:solidFill>
                <a:latin typeface="Source Serif 4" pitchFamily="34" charset="0"/>
                <a:ea typeface="Source Serif 4" pitchFamily="34" charset="-122"/>
                <a:cs typeface="Source Serif 4" pitchFamily="34" charset="-120"/>
              </a:rPr>
              <a:t>Key Findings from the Analysis</a:t>
            </a:r>
            <a:endParaRPr lang="en-US" sz="3300" dirty="0"/>
          </a:p>
        </p:txBody>
      </p:sp>
      <p:sp>
        <p:nvSpPr>
          <p:cNvPr id="6" name="Text 3"/>
          <p:cNvSpPr/>
          <p:nvPr/>
        </p:nvSpPr>
        <p:spPr>
          <a:xfrm>
            <a:off x="6280190" y="1769269"/>
            <a:ext cx="7556421" cy="416719"/>
          </a:xfrm>
          <a:prstGeom prst="rect">
            <a:avLst/>
          </a:prstGeom>
          <a:noFill/>
          <a:ln/>
        </p:spPr>
        <p:txBody>
          <a:bodyPr wrap="square" lIns="0" tIns="0" rIns="0" bIns="0" rtlCol="0" anchor="t"/>
          <a:lstStyle/>
          <a:p>
            <a:pPr algn="l" indent="0" marL="0">
              <a:lnSpc>
                <a:spcPts val="1600"/>
              </a:lnSpc>
              <a:buNone/>
            </a:pPr>
            <a:r>
              <a:rPr lang="en-US" sz="1300" dirty="0">
                <a:solidFill>
                  <a:srgbClr val="1B365D"/>
                </a:solidFill>
                <a:latin typeface="Public Sans Light" pitchFamily="34" charset="0"/>
                <a:ea typeface="Public Sans Light" pitchFamily="34" charset="-122"/>
                <a:cs typeface="Public Sans Light" pitchFamily="34" charset="-120"/>
              </a:rPr>
              <a:t>The CreepShwal dataset analysis produced four clear, actionable insights that directly inform business strategy, marketing targeting, and operational priorities.</a:t>
            </a:r>
            <a:endParaRPr lang="en-US" sz="1300" dirty="0"/>
          </a:p>
        </p:txBody>
      </p:sp>
      <p:sp>
        <p:nvSpPr>
          <p:cNvPr id="7" name="Shape 4"/>
          <p:cNvSpPr/>
          <p:nvPr/>
        </p:nvSpPr>
        <p:spPr>
          <a:xfrm>
            <a:off x="6280190" y="2329458"/>
            <a:ext cx="382667" cy="382667"/>
          </a:xfrm>
          <a:prstGeom prst="roundRect">
            <a:avLst>
              <a:gd name="adj" fmla="val 6669"/>
            </a:avLst>
          </a:prstGeom>
          <a:solidFill>
            <a:srgbClr val="1B365D"/>
          </a:solidFill>
          <a:ln/>
        </p:spPr>
      </p:sp>
      <p:pic>
        <p:nvPicPr>
          <p:cNvPr id="8"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43948" y="2393216"/>
            <a:ext cx="255151" cy="255151"/>
          </a:xfrm>
          <a:prstGeom prst="rect">
            <a:avLst/>
          </a:prstGeom>
        </p:spPr>
      </p:pic>
      <p:sp>
        <p:nvSpPr>
          <p:cNvPr id="9" name="Text 5"/>
          <p:cNvSpPr/>
          <p:nvPr/>
        </p:nvSpPr>
        <p:spPr>
          <a:xfrm>
            <a:off x="6790373" y="2387918"/>
            <a:ext cx="2819162" cy="265747"/>
          </a:xfrm>
          <a:prstGeom prst="rect">
            <a:avLst/>
          </a:prstGeom>
          <a:noFill/>
          <a:ln/>
        </p:spPr>
        <p:txBody>
          <a:bodyPr wrap="none" lIns="0" tIns="0" rIns="0" bIns="0" rtlCol="0" anchor="t"/>
          <a:lstStyle/>
          <a:p>
            <a:pPr algn="l" indent="0" marL="0">
              <a:lnSpc>
                <a:spcPts val="2050"/>
              </a:lnSpc>
              <a:buNone/>
            </a:pPr>
            <a:r>
              <a:rPr lang="en-US" sz="1650" dirty="0">
                <a:solidFill>
                  <a:srgbClr val="1B365D"/>
                </a:solidFill>
                <a:latin typeface="Source Serif 4" pitchFamily="34" charset="0"/>
                <a:ea typeface="Source Serif 4" pitchFamily="34" charset="-122"/>
                <a:cs typeface="Source Serif 4" pitchFamily="34" charset="-120"/>
              </a:rPr>
              <a:t>Women Are Primary Buyers</a:t>
            </a:r>
            <a:endParaRPr lang="en-US" sz="1650" dirty="0"/>
          </a:p>
        </p:txBody>
      </p:sp>
      <p:sp>
        <p:nvSpPr>
          <p:cNvPr id="10" name="Text 6"/>
          <p:cNvSpPr/>
          <p:nvPr/>
        </p:nvSpPr>
        <p:spPr>
          <a:xfrm>
            <a:off x="6790373" y="2730103"/>
            <a:ext cx="7046238" cy="625078"/>
          </a:xfrm>
          <a:prstGeom prst="rect">
            <a:avLst/>
          </a:prstGeom>
          <a:noFill/>
          <a:ln/>
        </p:spPr>
        <p:txBody>
          <a:bodyPr wrap="square" lIns="0" tIns="0" rIns="0" bIns="0" rtlCol="0" anchor="t"/>
          <a:lstStyle/>
          <a:p>
            <a:pPr algn="l" indent="0" marL="0">
              <a:lnSpc>
                <a:spcPts val="1600"/>
              </a:lnSpc>
              <a:buNone/>
            </a:pPr>
            <a:r>
              <a:rPr lang="en-US" sz="1300" dirty="0">
                <a:solidFill>
                  <a:srgbClr val="1B365D"/>
                </a:solidFill>
                <a:latin typeface="Public Sans Light" pitchFamily="34" charset="0"/>
                <a:ea typeface="Public Sans Light" pitchFamily="34" charset="-122"/>
                <a:cs typeface="Public Sans Light" pitchFamily="34" charset="-120"/>
              </a:rPr>
              <a:t>Female customers consistently outperform male customers in both order count and revenue contribution, making them the core demographic to prioritize in marketing and product strategy.</a:t>
            </a:r>
            <a:endParaRPr lang="en-US" sz="1300" dirty="0"/>
          </a:p>
        </p:txBody>
      </p:sp>
      <p:sp>
        <p:nvSpPr>
          <p:cNvPr id="11" name="Shape 7"/>
          <p:cNvSpPr/>
          <p:nvPr/>
        </p:nvSpPr>
        <p:spPr>
          <a:xfrm>
            <a:off x="6280190" y="3610332"/>
            <a:ext cx="382667" cy="382667"/>
          </a:xfrm>
          <a:prstGeom prst="roundRect">
            <a:avLst>
              <a:gd name="adj" fmla="val 6669"/>
            </a:avLst>
          </a:prstGeom>
          <a:solidFill>
            <a:srgbClr val="1B365D"/>
          </a:solidFill>
          <a:ln/>
        </p:spPr>
      </p:sp>
      <p:pic>
        <p:nvPicPr>
          <p:cNvPr id="12"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43948" y="3674090"/>
            <a:ext cx="255151" cy="255151"/>
          </a:xfrm>
          <a:prstGeom prst="rect">
            <a:avLst/>
          </a:prstGeom>
        </p:spPr>
      </p:pic>
      <p:sp>
        <p:nvSpPr>
          <p:cNvPr id="13" name="Text 8"/>
          <p:cNvSpPr/>
          <p:nvPr/>
        </p:nvSpPr>
        <p:spPr>
          <a:xfrm>
            <a:off x="6790373" y="3668792"/>
            <a:ext cx="2290405" cy="265747"/>
          </a:xfrm>
          <a:prstGeom prst="rect">
            <a:avLst/>
          </a:prstGeom>
          <a:noFill/>
          <a:ln/>
        </p:spPr>
        <p:txBody>
          <a:bodyPr wrap="none" lIns="0" tIns="0" rIns="0" bIns="0" rtlCol="0" anchor="t"/>
          <a:lstStyle/>
          <a:p>
            <a:pPr algn="l" indent="0" marL="0">
              <a:lnSpc>
                <a:spcPts val="2050"/>
              </a:lnSpc>
              <a:buNone/>
            </a:pPr>
            <a:r>
              <a:rPr lang="en-US" sz="1650" dirty="0">
                <a:solidFill>
                  <a:srgbClr val="1B365D"/>
                </a:solidFill>
                <a:latin typeface="Source Serif 4" pitchFamily="34" charset="0"/>
                <a:ea typeface="Source Serif 4" pitchFamily="34" charset="-122"/>
                <a:cs typeface="Source Serif 4" pitchFamily="34" charset="-120"/>
              </a:rPr>
              <a:t>Adults Are Most Active</a:t>
            </a:r>
            <a:endParaRPr lang="en-US" sz="1650" dirty="0"/>
          </a:p>
        </p:txBody>
      </p:sp>
      <p:sp>
        <p:nvSpPr>
          <p:cNvPr id="14" name="Text 9"/>
          <p:cNvSpPr/>
          <p:nvPr/>
        </p:nvSpPr>
        <p:spPr>
          <a:xfrm>
            <a:off x="6790373" y="4010977"/>
            <a:ext cx="7046238" cy="416719"/>
          </a:xfrm>
          <a:prstGeom prst="rect">
            <a:avLst/>
          </a:prstGeom>
          <a:noFill/>
          <a:ln/>
        </p:spPr>
        <p:txBody>
          <a:bodyPr wrap="square" lIns="0" tIns="0" rIns="0" bIns="0" rtlCol="0" anchor="t"/>
          <a:lstStyle/>
          <a:p>
            <a:pPr algn="l" indent="0" marL="0">
              <a:lnSpc>
                <a:spcPts val="1600"/>
              </a:lnSpc>
              <a:buNone/>
            </a:pPr>
            <a:r>
              <a:rPr lang="en-US" sz="1300" dirty="0">
                <a:solidFill>
                  <a:srgbClr val="1B365D"/>
                </a:solidFill>
                <a:latin typeface="Public Sans Light" pitchFamily="34" charset="0"/>
                <a:ea typeface="Public Sans Light" pitchFamily="34" charset="-122"/>
                <a:cs typeface="Public Sans Light" pitchFamily="34" charset="-120"/>
              </a:rPr>
              <a:t>The Adult age group is the most commercially active segment across all channels and states, delivering the highest sales volumes compared to Teen and Senior cohorts.</a:t>
            </a:r>
            <a:endParaRPr lang="en-US" sz="1300" dirty="0"/>
          </a:p>
        </p:txBody>
      </p:sp>
      <p:sp>
        <p:nvSpPr>
          <p:cNvPr id="15" name="Shape 10"/>
          <p:cNvSpPr/>
          <p:nvPr/>
        </p:nvSpPr>
        <p:spPr>
          <a:xfrm>
            <a:off x="6280190" y="4682847"/>
            <a:ext cx="382667" cy="382667"/>
          </a:xfrm>
          <a:prstGeom prst="roundRect">
            <a:avLst>
              <a:gd name="adj" fmla="val 6669"/>
            </a:avLst>
          </a:prstGeom>
          <a:solidFill>
            <a:srgbClr val="1B365D"/>
          </a:solidFill>
          <a:ln/>
        </p:spPr>
      </p:sp>
      <p:pic>
        <p:nvPicPr>
          <p:cNvPr id="16"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43948" y="4746605"/>
            <a:ext cx="255151" cy="255151"/>
          </a:xfrm>
          <a:prstGeom prst="rect">
            <a:avLst/>
          </a:prstGeom>
        </p:spPr>
      </p:pic>
      <p:sp>
        <p:nvSpPr>
          <p:cNvPr id="17" name="Text 11"/>
          <p:cNvSpPr/>
          <p:nvPr/>
        </p:nvSpPr>
        <p:spPr>
          <a:xfrm>
            <a:off x="6790373" y="4741307"/>
            <a:ext cx="2759035" cy="265747"/>
          </a:xfrm>
          <a:prstGeom prst="rect">
            <a:avLst/>
          </a:prstGeom>
          <a:noFill/>
          <a:ln/>
        </p:spPr>
        <p:txBody>
          <a:bodyPr wrap="none" lIns="0" tIns="0" rIns="0" bIns="0" rtlCol="0" anchor="t"/>
          <a:lstStyle/>
          <a:p>
            <a:pPr algn="l" indent="0" marL="0">
              <a:lnSpc>
                <a:spcPts val="2050"/>
              </a:lnSpc>
              <a:buNone/>
            </a:pPr>
            <a:r>
              <a:rPr lang="en-US" sz="1650" dirty="0">
                <a:solidFill>
                  <a:srgbClr val="1B365D"/>
                </a:solidFill>
                <a:latin typeface="Source Serif 4" pitchFamily="34" charset="0"/>
                <a:ea typeface="Source Serif 4" pitchFamily="34" charset="-122"/>
                <a:cs typeface="Source Serif 4" pitchFamily="34" charset="-120"/>
              </a:rPr>
              <a:t>Delivered Orders Dominate</a:t>
            </a:r>
            <a:endParaRPr lang="en-US" sz="1650" dirty="0"/>
          </a:p>
        </p:txBody>
      </p:sp>
      <p:sp>
        <p:nvSpPr>
          <p:cNvPr id="18" name="Text 12"/>
          <p:cNvSpPr/>
          <p:nvPr/>
        </p:nvSpPr>
        <p:spPr>
          <a:xfrm>
            <a:off x="6790373" y="5083493"/>
            <a:ext cx="7046238" cy="416719"/>
          </a:xfrm>
          <a:prstGeom prst="rect">
            <a:avLst/>
          </a:prstGeom>
          <a:noFill/>
          <a:ln/>
        </p:spPr>
        <p:txBody>
          <a:bodyPr wrap="square" lIns="0" tIns="0" rIns="0" bIns="0" rtlCol="0" anchor="t"/>
          <a:lstStyle/>
          <a:p>
            <a:pPr algn="l" indent="0" marL="0">
              <a:lnSpc>
                <a:spcPts val="1600"/>
              </a:lnSpc>
              <a:buNone/>
            </a:pPr>
            <a:r>
              <a:rPr lang="en-US" sz="1300" dirty="0">
                <a:solidFill>
                  <a:srgbClr val="1B365D"/>
                </a:solidFill>
                <a:latin typeface="Public Sans Light" pitchFamily="34" charset="0"/>
                <a:ea typeface="Public Sans Light" pitchFamily="34" charset="-122"/>
                <a:cs typeface="Public Sans Light" pitchFamily="34" charset="-120"/>
              </a:rPr>
              <a:t>The vast majority of orders are successfully delivered with minimal cancellations and returns, indicating robust fulfillment operations and positive customer satisfaction levels.</a:t>
            </a:r>
            <a:endParaRPr lang="en-US" sz="1300" dirty="0"/>
          </a:p>
        </p:txBody>
      </p:sp>
      <p:sp>
        <p:nvSpPr>
          <p:cNvPr id="19" name="Shape 13"/>
          <p:cNvSpPr/>
          <p:nvPr/>
        </p:nvSpPr>
        <p:spPr>
          <a:xfrm>
            <a:off x="6280190" y="5755362"/>
            <a:ext cx="382667" cy="382667"/>
          </a:xfrm>
          <a:prstGeom prst="roundRect">
            <a:avLst>
              <a:gd name="adj" fmla="val 6669"/>
            </a:avLst>
          </a:prstGeom>
          <a:solidFill>
            <a:srgbClr val="1B365D"/>
          </a:solidFill>
          <a:ln/>
        </p:spPr>
      </p:sp>
      <p:pic>
        <p:nvPicPr>
          <p:cNvPr id="2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43948" y="5819120"/>
            <a:ext cx="255151" cy="255151"/>
          </a:xfrm>
          <a:prstGeom prst="rect">
            <a:avLst/>
          </a:prstGeom>
        </p:spPr>
      </p:pic>
      <p:sp>
        <p:nvSpPr>
          <p:cNvPr id="21" name="Text 14"/>
          <p:cNvSpPr/>
          <p:nvPr/>
        </p:nvSpPr>
        <p:spPr>
          <a:xfrm>
            <a:off x="6790373" y="5813822"/>
            <a:ext cx="3767138" cy="265747"/>
          </a:xfrm>
          <a:prstGeom prst="rect">
            <a:avLst/>
          </a:prstGeom>
          <a:noFill/>
          <a:ln/>
        </p:spPr>
        <p:txBody>
          <a:bodyPr wrap="none" lIns="0" tIns="0" rIns="0" bIns="0" rtlCol="0" anchor="t"/>
          <a:lstStyle/>
          <a:p>
            <a:pPr algn="l" indent="0" marL="0">
              <a:lnSpc>
                <a:spcPts val="2050"/>
              </a:lnSpc>
              <a:buNone/>
            </a:pPr>
            <a:r>
              <a:rPr lang="en-US" sz="1650" dirty="0">
                <a:solidFill>
                  <a:srgbClr val="1B365D"/>
                </a:solidFill>
                <a:latin typeface="Source Serif 4" pitchFamily="34" charset="0"/>
                <a:ea typeface="Source Serif 4" pitchFamily="34" charset="-122"/>
                <a:cs typeface="Source Serif 4" pitchFamily="34" charset="-120"/>
              </a:rPr>
              <a:t>Marketplace Channels Drive Revenue</a:t>
            </a:r>
            <a:endParaRPr lang="en-US" sz="1650" dirty="0"/>
          </a:p>
        </p:txBody>
      </p:sp>
      <p:sp>
        <p:nvSpPr>
          <p:cNvPr id="22" name="Text 15"/>
          <p:cNvSpPr/>
          <p:nvPr/>
        </p:nvSpPr>
        <p:spPr>
          <a:xfrm>
            <a:off x="6790373" y="6156008"/>
            <a:ext cx="7046238" cy="416719"/>
          </a:xfrm>
          <a:prstGeom prst="rect">
            <a:avLst/>
          </a:prstGeom>
          <a:noFill/>
          <a:ln/>
        </p:spPr>
        <p:txBody>
          <a:bodyPr wrap="square" lIns="0" tIns="0" rIns="0" bIns="0" rtlCol="0" anchor="t"/>
          <a:lstStyle/>
          <a:p>
            <a:pPr algn="l" indent="0" marL="0">
              <a:lnSpc>
                <a:spcPts val="1600"/>
              </a:lnSpc>
              <a:buNone/>
            </a:pPr>
            <a:r>
              <a:rPr lang="en-US" sz="1300" dirty="0">
                <a:solidFill>
                  <a:srgbClr val="1B365D"/>
                </a:solidFill>
                <a:latin typeface="Public Sans Light" pitchFamily="34" charset="0"/>
                <a:ea typeface="Public Sans Light" pitchFamily="34" charset="-122"/>
                <a:cs typeface="Public Sans Light" pitchFamily="34" charset="-120"/>
              </a:rPr>
              <a:t>Amazon, Myntra, and Ajio collectively account for the lion's share of total revenue, underscoring the strategic importance of maintaining strong presence on these platforms.</a:t>
            </a:r>
            <a:endParaRPr lang="en-US" sz="1300" dirty="0"/>
          </a:p>
        </p:txBody>
      </p:sp>
      <p:sp>
        <p:nvSpPr>
          <p:cNvPr id="23" name="Shape 16"/>
          <p:cNvSpPr/>
          <p:nvPr/>
        </p:nvSpPr>
        <p:spPr>
          <a:xfrm>
            <a:off x="6280190" y="6716197"/>
            <a:ext cx="7556421" cy="786527"/>
          </a:xfrm>
          <a:prstGeom prst="roundRect">
            <a:avLst>
              <a:gd name="adj" fmla="val 3244"/>
            </a:avLst>
          </a:prstGeom>
          <a:solidFill>
            <a:srgbClr val="F5E6CC"/>
          </a:solidFill>
          <a:ln/>
        </p:spPr>
      </p:sp>
      <p:sp>
        <p:nvSpPr>
          <p:cNvPr id="24" name="Text 17"/>
          <p:cNvSpPr/>
          <p:nvPr/>
        </p:nvSpPr>
        <p:spPr>
          <a:xfrm>
            <a:off x="6450211" y="6886218"/>
            <a:ext cx="7216378" cy="416719"/>
          </a:xfrm>
          <a:prstGeom prst="rect">
            <a:avLst/>
          </a:prstGeom>
          <a:noFill/>
          <a:ln/>
        </p:spPr>
        <p:txBody>
          <a:bodyPr wrap="square" lIns="0" tIns="0" rIns="0" bIns="0" rtlCol="0" anchor="t"/>
          <a:lstStyle/>
          <a:p>
            <a:pPr algn="l" indent="0" marL="0">
              <a:lnSpc>
                <a:spcPts val="1600"/>
              </a:lnSpc>
              <a:buNone/>
            </a:pPr>
            <a:r>
              <a:rPr lang="en-US" sz="1300" dirty="0">
                <a:solidFill>
                  <a:srgbClr val="000000"/>
                </a:solidFill>
                <a:latin typeface="Public Sans Light" pitchFamily="34" charset="0"/>
                <a:ea typeface="Public Sans Light" pitchFamily="34" charset="-122"/>
                <a:cs typeface="Public Sans Light" pitchFamily="34" charset="-120"/>
              </a:rPr>
              <a:t>These insights were derived entirely from the CreepShwal dataset using Excel Pivot Tables and chart analysis.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93790" y="970121"/>
            <a:ext cx="942023" cy="224552"/>
          </a:xfrm>
          <a:prstGeom prst="roundRect">
            <a:avLst>
              <a:gd name="adj" fmla="val 7879"/>
            </a:avLst>
          </a:prstGeom>
          <a:solidFill>
            <a:srgbClr val="F5E6CC"/>
          </a:solidFill>
          <a:ln/>
        </p:spPr>
      </p:sp>
      <p:sp>
        <p:nvSpPr>
          <p:cNvPr id="3" name="Text 1"/>
          <p:cNvSpPr/>
          <p:nvPr/>
        </p:nvSpPr>
        <p:spPr>
          <a:xfrm>
            <a:off x="882134" y="1014293"/>
            <a:ext cx="765334" cy="136208"/>
          </a:xfrm>
          <a:prstGeom prst="rect">
            <a:avLst/>
          </a:prstGeom>
          <a:noFill/>
          <a:ln/>
        </p:spPr>
        <p:txBody>
          <a:bodyPr wrap="none" lIns="0" tIns="0" rIns="0" bIns="0" rtlCol="0" anchor="t"/>
          <a:lstStyle/>
          <a:p>
            <a:pPr algn="l" indent="0" marL="0">
              <a:lnSpc>
                <a:spcPts val="1050"/>
              </a:lnSpc>
              <a:buNone/>
            </a:pPr>
            <a:r>
              <a:rPr lang="en-US" sz="900" dirty="0">
                <a:solidFill>
                  <a:srgbClr val="000000"/>
                </a:solidFill>
                <a:latin typeface="Public Sans Light" pitchFamily="34" charset="0"/>
                <a:ea typeface="Public Sans Light" pitchFamily="34" charset="-122"/>
                <a:cs typeface="Public Sans Light" pitchFamily="34" charset="-120"/>
              </a:rPr>
              <a:t>CONCLUSION</a:t>
            </a:r>
            <a:endParaRPr lang="en-US" sz="900" dirty="0"/>
          </a:p>
        </p:txBody>
      </p:sp>
      <p:sp>
        <p:nvSpPr>
          <p:cNvPr id="4" name="Text 2"/>
          <p:cNvSpPr/>
          <p:nvPr/>
        </p:nvSpPr>
        <p:spPr>
          <a:xfrm>
            <a:off x="793790" y="1232892"/>
            <a:ext cx="7325797" cy="460772"/>
          </a:xfrm>
          <a:prstGeom prst="rect">
            <a:avLst/>
          </a:prstGeom>
          <a:noFill/>
          <a:ln/>
        </p:spPr>
        <p:txBody>
          <a:bodyPr wrap="none" lIns="0" tIns="0" rIns="0" bIns="0" rtlCol="0" anchor="t"/>
          <a:lstStyle/>
          <a:p>
            <a:pPr algn="l" indent="0" marL="0">
              <a:lnSpc>
                <a:spcPts val="3600"/>
              </a:lnSpc>
              <a:buNone/>
            </a:pPr>
            <a:r>
              <a:rPr lang="en-US" sz="2900" dirty="0">
                <a:solidFill>
                  <a:srgbClr val="0D0D0D"/>
                </a:solidFill>
                <a:latin typeface="Source Serif 4" pitchFamily="34" charset="0"/>
                <a:ea typeface="Source Serif 4" pitchFamily="34" charset="-122"/>
                <a:cs typeface="Source Serif 4" pitchFamily="34" charset="-120"/>
              </a:rPr>
              <a:t>Conclusion &amp; Business Recommendations</a:t>
            </a:r>
            <a:endParaRPr lang="en-US" sz="2900" dirty="0"/>
          </a:p>
        </p:txBody>
      </p:sp>
      <p:sp>
        <p:nvSpPr>
          <p:cNvPr id="5" name="Text 3"/>
          <p:cNvSpPr/>
          <p:nvPr/>
        </p:nvSpPr>
        <p:spPr>
          <a:xfrm>
            <a:off x="793790" y="1837373"/>
            <a:ext cx="13042821" cy="340281"/>
          </a:xfrm>
          <a:prstGeom prst="rect">
            <a:avLst/>
          </a:prstGeom>
          <a:noFill/>
          <a:ln/>
        </p:spPr>
        <p:txBody>
          <a:bodyPr wrap="square" lIns="0" tIns="0" rIns="0" bIns="0" rtlCol="0" anchor="t"/>
          <a:lstStyle/>
          <a:p>
            <a:pPr algn="l" indent="0" marL="0">
              <a:lnSpc>
                <a:spcPts val="1300"/>
              </a:lnSpc>
              <a:buNone/>
            </a:pPr>
            <a:r>
              <a:rPr lang="en-US" sz="1150" dirty="0">
                <a:solidFill>
                  <a:srgbClr val="1B365D"/>
                </a:solidFill>
                <a:latin typeface="Public Sans Light" pitchFamily="34" charset="0"/>
                <a:ea typeface="Public Sans Light" pitchFamily="34" charset="-122"/>
                <a:cs typeface="Public Sans Light" pitchFamily="34" charset="-120"/>
              </a:rPr>
              <a:t>This Excel-based analysis demonstrates the power of accessible tools for generating meaningful business intelligence. The dashboard enables ongoing decision-making without requiring specialized software — empowering teams to act on data quickly.</a:t>
            </a:r>
            <a:endParaRPr lang="en-US" sz="1150" dirty="0"/>
          </a:p>
        </p:txBody>
      </p:sp>
      <p:sp>
        <p:nvSpPr>
          <p:cNvPr id="6" name="Shape 4"/>
          <p:cNvSpPr/>
          <p:nvPr/>
        </p:nvSpPr>
        <p:spPr>
          <a:xfrm>
            <a:off x="941189" y="2506504"/>
            <a:ext cx="147399" cy="747593"/>
          </a:xfrm>
          <a:prstGeom prst="roundRect">
            <a:avLst>
              <a:gd name="adj" fmla="val 15004"/>
            </a:avLst>
          </a:prstGeom>
          <a:solidFill>
            <a:srgbClr val="1B365D"/>
          </a:solidFill>
          <a:ln/>
        </p:spPr>
      </p:sp>
      <p:sp>
        <p:nvSpPr>
          <p:cNvPr id="7" name="Shape 5"/>
          <p:cNvSpPr/>
          <p:nvPr/>
        </p:nvSpPr>
        <p:spPr>
          <a:xfrm>
            <a:off x="793790" y="2386727"/>
            <a:ext cx="442198" cy="442198"/>
          </a:xfrm>
          <a:prstGeom prst="roundRect">
            <a:avLst>
              <a:gd name="adj" fmla="val 103393"/>
            </a:avLst>
          </a:prstGeom>
          <a:solidFill>
            <a:srgbClr val="1B365D"/>
          </a:solidFill>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04280" y="2497336"/>
            <a:ext cx="221099" cy="221099"/>
          </a:xfrm>
          <a:prstGeom prst="rect">
            <a:avLst/>
          </a:prstGeom>
        </p:spPr>
      </p:pic>
      <p:sp>
        <p:nvSpPr>
          <p:cNvPr id="9" name="Text 6"/>
          <p:cNvSpPr/>
          <p:nvPr/>
        </p:nvSpPr>
        <p:spPr>
          <a:xfrm>
            <a:off x="1331714" y="2432804"/>
            <a:ext cx="3419118" cy="276344"/>
          </a:xfrm>
          <a:prstGeom prst="rect">
            <a:avLst/>
          </a:prstGeom>
          <a:noFill/>
          <a:ln/>
        </p:spPr>
        <p:txBody>
          <a:bodyPr wrap="none" lIns="0" tIns="0" rIns="0" bIns="0" rtlCol="0" anchor="t"/>
          <a:lstStyle/>
          <a:p>
            <a:pPr algn="l" indent="0" marL="0">
              <a:lnSpc>
                <a:spcPts val="2150"/>
              </a:lnSpc>
              <a:buNone/>
            </a:pPr>
            <a:r>
              <a:rPr lang="en-US" sz="1700" dirty="0">
                <a:solidFill>
                  <a:srgbClr val="1B365D"/>
                </a:solidFill>
                <a:latin typeface="Source Serif 4" pitchFamily="34" charset="0"/>
                <a:ea typeface="Source Serif 4" pitchFamily="34" charset="-122"/>
                <a:cs typeface="Source Serif 4" pitchFamily="34" charset="-120"/>
              </a:rPr>
              <a:t>Excel is a Powerful Analysis Tool</a:t>
            </a:r>
            <a:endParaRPr lang="en-US" sz="1700" dirty="0"/>
          </a:p>
        </p:txBody>
      </p:sp>
      <p:sp>
        <p:nvSpPr>
          <p:cNvPr id="10" name="Text 7"/>
          <p:cNvSpPr/>
          <p:nvPr/>
        </p:nvSpPr>
        <p:spPr>
          <a:xfrm>
            <a:off x="1331714" y="2766536"/>
            <a:ext cx="12504896" cy="340281"/>
          </a:xfrm>
          <a:prstGeom prst="rect">
            <a:avLst/>
          </a:prstGeom>
          <a:noFill/>
          <a:ln/>
        </p:spPr>
        <p:txBody>
          <a:bodyPr wrap="square" lIns="0" tIns="0" rIns="0" bIns="0" rtlCol="0" anchor="t"/>
          <a:lstStyle/>
          <a:p>
            <a:pPr algn="l" indent="0" marL="0">
              <a:lnSpc>
                <a:spcPts val="1300"/>
              </a:lnSpc>
              <a:buNone/>
            </a:pPr>
            <a:r>
              <a:rPr lang="en-US" sz="1150" dirty="0">
                <a:solidFill>
                  <a:srgbClr val="1B365D"/>
                </a:solidFill>
                <a:latin typeface="Public Sans Light" pitchFamily="34" charset="0"/>
                <a:ea typeface="Public Sans Light" pitchFamily="34" charset="-122"/>
                <a:cs typeface="Public Sans Light" pitchFamily="34" charset="-120"/>
              </a:rPr>
              <a:t>Pivot Tables, calculated columns, and chart features in Excel are sufficient to perform comprehensive sales analysis on real-world e-commerce datasets without any additional BI software.</a:t>
            </a:r>
            <a:endParaRPr lang="en-US" sz="1150" dirty="0"/>
          </a:p>
        </p:txBody>
      </p:sp>
      <p:sp>
        <p:nvSpPr>
          <p:cNvPr id="11" name="Shape 8"/>
          <p:cNvSpPr/>
          <p:nvPr/>
        </p:nvSpPr>
        <p:spPr>
          <a:xfrm>
            <a:off x="1162288" y="3571042"/>
            <a:ext cx="147399" cy="663297"/>
          </a:xfrm>
          <a:prstGeom prst="roundRect">
            <a:avLst>
              <a:gd name="adj" fmla="val 15004"/>
            </a:avLst>
          </a:prstGeom>
          <a:solidFill>
            <a:srgbClr val="1B365D"/>
          </a:solidFill>
          <a:ln/>
        </p:spPr>
      </p:sp>
      <p:sp>
        <p:nvSpPr>
          <p:cNvPr id="12" name="Shape 9"/>
          <p:cNvSpPr/>
          <p:nvPr/>
        </p:nvSpPr>
        <p:spPr>
          <a:xfrm>
            <a:off x="1014889" y="3451265"/>
            <a:ext cx="442198" cy="442198"/>
          </a:xfrm>
          <a:prstGeom prst="roundRect">
            <a:avLst>
              <a:gd name="adj" fmla="val 103393"/>
            </a:avLst>
          </a:prstGeom>
          <a:solidFill>
            <a:srgbClr val="1B365D"/>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5379" y="3561874"/>
            <a:ext cx="221099" cy="221099"/>
          </a:xfrm>
          <a:prstGeom prst="rect">
            <a:avLst/>
          </a:prstGeom>
        </p:spPr>
      </p:pic>
      <p:sp>
        <p:nvSpPr>
          <p:cNvPr id="14" name="Text 10"/>
          <p:cNvSpPr/>
          <p:nvPr/>
        </p:nvSpPr>
        <p:spPr>
          <a:xfrm>
            <a:off x="1552813" y="3497342"/>
            <a:ext cx="3855125" cy="276344"/>
          </a:xfrm>
          <a:prstGeom prst="rect">
            <a:avLst/>
          </a:prstGeom>
          <a:noFill/>
          <a:ln/>
        </p:spPr>
        <p:txBody>
          <a:bodyPr wrap="none" lIns="0" tIns="0" rIns="0" bIns="0" rtlCol="0" anchor="t"/>
          <a:lstStyle/>
          <a:p>
            <a:pPr algn="l" indent="0" marL="0">
              <a:lnSpc>
                <a:spcPts val="2150"/>
              </a:lnSpc>
              <a:buNone/>
            </a:pPr>
            <a:r>
              <a:rPr lang="en-US" sz="1700" dirty="0">
                <a:solidFill>
                  <a:srgbClr val="1B365D"/>
                </a:solidFill>
                <a:latin typeface="Source Serif 4" pitchFamily="34" charset="0"/>
                <a:ea typeface="Source Serif 4" pitchFamily="34" charset="-122"/>
                <a:cs typeface="Source Serif 4" pitchFamily="34" charset="-120"/>
              </a:rPr>
              <a:t>Dashboard Enables Decision-Making</a:t>
            </a:r>
            <a:endParaRPr lang="en-US" sz="1700" dirty="0"/>
          </a:p>
        </p:txBody>
      </p:sp>
      <p:sp>
        <p:nvSpPr>
          <p:cNvPr id="15" name="Text 11"/>
          <p:cNvSpPr/>
          <p:nvPr/>
        </p:nvSpPr>
        <p:spPr>
          <a:xfrm>
            <a:off x="1552813" y="3831074"/>
            <a:ext cx="12283797" cy="170140"/>
          </a:xfrm>
          <a:prstGeom prst="rect">
            <a:avLst/>
          </a:prstGeom>
          <a:noFill/>
          <a:ln/>
        </p:spPr>
        <p:txBody>
          <a:bodyPr wrap="none" lIns="0" tIns="0" rIns="0" bIns="0" rtlCol="0" anchor="t"/>
          <a:lstStyle/>
          <a:p>
            <a:pPr algn="l" indent="0" marL="0">
              <a:lnSpc>
                <a:spcPts val="1300"/>
              </a:lnSpc>
              <a:buNone/>
            </a:pPr>
            <a:r>
              <a:rPr lang="en-US" sz="1150" dirty="0">
                <a:solidFill>
                  <a:srgbClr val="1B365D"/>
                </a:solidFill>
                <a:latin typeface="Public Sans Light" pitchFamily="34" charset="0"/>
                <a:ea typeface="Public Sans Light" pitchFamily="34" charset="-122"/>
                <a:cs typeface="Public Sans Light" pitchFamily="34" charset="-120"/>
              </a:rPr>
              <a:t>The interactive dashboard with Gender, Channel, and State filters allows business stakeholders to drill into the data independently and extract the insights most relevant to their role.</a:t>
            </a:r>
            <a:endParaRPr lang="en-US" sz="1150" dirty="0"/>
          </a:p>
        </p:txBody>
      </p:sp>
      <p:sp>
        <p:nvSpPr>
          <p:cNvPr id="16" name="Shape 12"/>
          <p:cNvSpPr/>
          <p:nvPr/>
        </p:nvSpPr>
        <p:spPr>
          <a:xfrm>
            <a:off x="1383387" y="4551283"/>
            <a:ext cx="147399" cy="747593"/>
          </a:xfrm>
          <a:prstGeom prst="roundRect">
            <a:avLst>
              <a:gd name="adj" fmla="val 15004"/>
            </a:avLst>
          </a:prstGeom>
          <a:solidFill>
            <a:srgbClr val="1B365D"/>
          </a:solidFill>
          <a:ln/>
        </p:spPr>
      </p:sp>
      <p:sp>
        <p:nvSpPr>
          <p:cNvPr id="17" name="Shape 13"/>
          <p:cNvSpPr/>
          <p:nvPr/>
        </p:nvSpPr>
        <p:spPr>
          <a:xfrm>
            <a:off x="1235988" y="4431506"/>
            <a:ext cx="442198" cy="442198"/>
          </a:xfrm>
          <a:prstGeom prst="roundRect">
            <a:avLst>
              <a:gd name="adj" fmla="val 103393"/>
            </a:avLst>
          </a:prstGeom>
          <a:solidFill>
            <a:srgbClr val="1B365D"/>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46478" y="4542115"/>
            <a:ext cx="221099" cy="221099"/>
          </a:xfrm>
          <a:prstGeom prst="rect">
            <a:avLst/>
          </a:prstGeom>
        </p:spPr>
      </p:pic>
      <p:sp>
        <p:nvSpPr>
          <p:cNvPr id="19" name="Text 14"/>
          <p:cNvSpPr/>
          <p:nvPr/>
        </p:nvSpPr>
        <p:spPr>
          <a:xfrm>
            <a:off x="1773912" y="4477583"/>
            <a:ext cx="2662118" cy="276344"/>
          </a:xfrm>
          <a:prstGeom prst="rect">
            <a:avLst/>
          </a:prstGeom>
          <a:noFill/>
          <a:ln/>
        </p:spPr>
        <p:txBody>
          <a:bodyPr wrap="none" lIns="0" tIns="0" rIns="0" bIns="0" rtlCol="0" anchor="t"/>
          <a:lstStyle/>
          <a:p>
            <a:pPr algn="l" indent="0" marL="0">
              <a:lnSpc>
                <a:spcPts val="2150"/>
              </a:lnSpc>
              <a:buNone/>
            </a:pPr>
            <a:r>
              <a:rPr lang="en-US" sz="1700" dirty="0">
                <a:solidFill>
                  <a:srgbClr val="1B365D"/>
                </a:solidFill>
                <a:latin typeface="Source Serif 4" pitchFamily="34" charset="0"/>
                <a:ea typeface="Source Serif 4" pitchFamily="34" charset="-122"/>
                <a:cs typeface="Source Serif 4" pitchFamily="34" charset="-120"/>
              </a:rPr>
              <a:t>Target Female Customers</a:t>
            </a:r>
            <a:endParaRPr lang="en-US" sz="1700" dirty="0"/>
          </a:p>
        </p:txBody>
      </p:sp>
      <p:sp>
        <p:nvSpPr>
          <p:cNvPr id="20" name="Text 15"/>
          <p:cNvSpPr/>
          <p:nvPr/>
        </p:nvSpPr>
        <p:spPr>
          <a:xfrm>
            <a:off x="1773912" y="4811316"/>
            <a:ext cx="12062698" cy="340281"/>
          </a:xfrm>
          <a:prstGeom prst="rect">
            <a:avLst/>
          </a:prstGeom>
          <a:noFill/>
          <a:ln/>
        </p:spPr>
        <p:txBody>
          <a:bodyPr wrap="square" lIns="0" tIns="0" rIns="0" bIns="0" rtlCol="0" anchor="t"/>
          <a:lstStyle/>
          <a:p>
            <a:pPr algn="l" indent="0" marL="0">
              <a:lnSpc>
                <a:spcPts val="1300"/>
              </a:lnSpc>
              <a:buNone/>
            </a:pPr>
            <a:r>
              <a:rPr lang="en-US" sz="1150" dirty="0">
                <a:solidFill>
                  <a:srgbClr val="1B365D"/>
                </a:solidFill>
                <a:latin typeface="Public Sans Light" pitchFamily="34" charset="0"/>
                <a:ea typeface="Public Sans Light" pitchFamily="34" charset="-122"/>
                <a:cs typeface="Public Sans Light" pitchFamily="34" charset="-120"/>
              </a:rPr>
              <a:t>Marketing budgets and campaign messaging should prioritize women — especially adult female shoppers — as they represent the largest and most active buyer segment in the dataset.</a:t>
            </a:r>
            <a:endParaRPr lang="en-US" sz="1150" dirty="0"/>
          </a:p>
        </p:txBody>
      </p:sp>
      <p:sp>
        <p:nvSpPr>
          <p:cNvPr id="21" name="Shape 16"/>
          <p:cNvSpPr/>
          <p:nvPr/>
        </p:nvSpPr>
        <p:spPr>
          <a:xfrm>
            <a:off x="1604605" y="5615821"/>
            <a:ext cx="147399" cy="663297"/>
          </a:xfrm>
          <a:prstGeom prst="roundRect">
            <a:avLst>
              <a:gd name="adj" fmla="val 15004"/>
            </a:avLst>
          </a:prstGeom>
          <a:solidFill>
            <a:srgbClr val="1B365D"/>
          </a:solidFill>
          <a:ln/>
        </p:spPr>
      </p:sp>
      <p:sp>
        <p:nvSpPr>
          <p:cNvPr id="22" name="Shape 17"/>
          <p:cNvSpPr/>
          <p:nvPr/>
        </p:nvSpPr>
        <p:spPr>
          <a:xfrm>
            <a:off x="1457206" y="5496044"/>
            <a:ext cx="442198" cy="442198"/>
          </a:xfrm>
          <a:prstGeom prst="roundRect">
            <a:avLst>
              <a:gd name="adj" fmla="val 103393"/>
            </a:avLst>
          </a:prstGeom>
          <a:solidFill>
            <a:srgbClr val="1B365D"/>
          </a:solidFill>
          <a:ln/>
        </p:spPr>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67696" y="5606653"/>
            <a:ext cx="221099" cy="221099"/>
          </a:xfrm>
          <a:prstGeom prst="rect">
            <a:avLst/>
          </a:prstGeom>
        </p:spPr>
      </p:pic>
      <p:sp>
        <p:nvSpPr>
          <p:cNvPr id="24" name="Text 18"/>
          <p:cNvSpPr/>
          <p:nvPr/>
        </p:nvSpPr>
        <p:spPr>
          <a:xfrm>
            <a:off x="1995130" y="5542121"/>
            <a:ext cx="3449241" cy="276344"/>
          </a:xfrm>
          <a:prstGeom prst="rect">
            <a:avLst/>
          </a:prstGeom>
          <a:noFill/>
          <a:ln/>
        </p:spPr>
        <p:txBody>
          <a:bodyPr wrap="none" lIns="0" tIns="0" rIns="0" bIns="0" rtlCol="0" anchor="t"/>
          <a:lstStyle/>
          <a:p>
            <a:pPr algn="l" indent="0" marL="0">
              <a:lnSpc>
                <a:spcPts val="2150"/>
              </a:lnSpc>
              <a:buNone/>
            </a:pPr>
            <a:r>
              <a:rPr lang="en-US" sz="1700" dirty="0">
                <a:solidFill>
                  <a:srgbClr val="1B365D"/>
                </a:solidFill>
                <a:latin typeface="Source Serif 4" pitchFamily="34" charset="0"/>
                <a:ea typeface="Source Serif 4" pitchFamily="34" charset="-122"/>
                <a:cs typeface="Source Serif 4" pitchFamily="34" charset="-120"/>
              </a:rPr>
              <a:t>Focus on High-Performing States</a:t>
            </a:r>
            <a:endParaRPr lang="en-US" sz="1700" dirty="0"/>
          </a:p>
        </p:txBody>
      </p:sp>
      <p:sp>
        <p:nvSpPr>
          <p:cNvPr id="25" name="Text 19"/>
          <p:cNvSpPr/>
          <p:nvPr/>
        </p:nvSpPr>
        <p:spPr>
          <a:xfrm>
            <a:off x="1995130" y="5875853"/>
            <a:ext cx="11841480" cy="170140"/>
          </a:xfrm>
          <a:prstGeom prst="rect">
            <a:avLst/>
          </a:prstGeom>
          <a:noFill/>
          <a:ln/>
        </p:spPr>
        <p:txBody>
          <a:bodyPr wrap="none" lIns="0" tIns="0" rIns="0" bIns="0" rtlCol="0" anchor="t"/>
          <a:lstStyle/>
          <a:p>
            <a:pPr algn="l" indent="0" marL="0">
              <a:lnSpc>
                <a:spcPts val="1300"/>
              </a:lnSpc>
              <a:buNone/>
            </a:pPr>
            <a:r>
              <a:rPr lang="en-US" sz="1150" dirty="0">
                <a:solidFill>
                  <a:srgbClr val="1B365D"/>
                </a:solidFill>
                <a:latin typeface="Public Sans Light" pitchFamily="34" charset="0"/>
                <a:ea typeface="Public Sans Light" pitchFamily="34" charset="-122"/>
                <a:cs typeface="Public Sans Light" pitchFamily="34" charset="-120"/>
              </a:rPr>
              <a:t>Double down on logistics and promotions in top-performing states while designing targeted campaigns to unlock growth potential in underperforming regions.</a:t>
            </a:r>
            <a:endParaRPr lang="en-US" sz="1150" dirty="0"/>
          </a:p>
        </p:txBody>
      </p:sp>
      <p:sp>
        <p:nvSpPr>
          <p:cNvPr id="26" name="Shape 20"/>
          <p:cNvSpPr/>
          <p:nvPr/>
        </p:nvSpPr>
        <p:spPr>
          <a:xfrm>
            <a:off x="1383387" y="6596063"/>
            <a:ext cx="147399" cy="663297"/>
          </a:xfrm>
          <a:prstGeom prst="roundRect">
            <a:avLst>
              <a:gd name="adj" fmla="val 15004"/>
            </a:avLst>
          </a:prstGeom>
          <a:solidFill>
            <a:srgbClr val="1B365D"/>
          </a:solidFill>
          <a:ln/>
        </p:spPr>
      </p:sp>
      <p:sp>
        <p:nvSpPr>
          <p:cNvPr id="27" name="Shape 21"/>
          <p:cNvSpPr/>
          <p:nvPr/>
        </p:nvSpPr>
        <p:spPr>
          <a:xfrm>
            <a:off x="1235988" y="6476286"/>
            <a:ext cx="442198" cy="442198"/>
          </a:xfrm>
          <a:prstGeom prst="roundRect">
            <a:avLst>
              <a:gd name="adj" fmla="val 103393"/>
            </a:avLst>
          </a:prstGeom>
          <a:solidFill>
            <a:srgbClr val="1B365D"/>
          </a:solidFill>
          <a:ln/>
        </p:spPr>
      </p:sp>
      <p:pic>
        <p:nvPicPr>
          <p:cNvPr id="28"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46478" y="6586895"/>
            <a:ext cx="221099" cy="221099"/>
          </a:xfrm>
          <a:prstGeom prst="rect">
            <a:avLst/>
          </a:prstGeom>
        </p:spPr>
      </p:pic>
      <p:sp>
        <p:nvSpPr>
          <p:cNvPr id="29" name="Text 22"/>
          <p:cNvSpPr/>
          <p:nvPr/>
        </p:nvSpPr>
        <p:spPr>
          <a:xfrm>
            <a:off x="1773912" y="6522363"/>
            <a:ext cx="3231356" cy="276344"/>
          </a:xfrm>
          <a:prstGeom prst="rect">
            <a:avLst/>
          </a:prstGeom>
          <a:noFill/>
          <a:ln/>
        </p:spPr>
        <p:txBody>
          <a:bodyPr wrap="none" lIns="0" tIns="0" rIns="0" bIns="0" rtlCol="0" anchor="t"/>
          <a:lstStyle/>
          <a:p>
            <a:pPr algn="l" indent="0" marL="0">
              <a:lnSpc>
                <a:spcPts val="2150"/>
              </a:lnSpc>
              <a:buNone/>
            </a:pPr>
            <a:r>
              <a:rPr lang="en-US" sz="1700" dirty="0">
                <a:solidFill>
                  <a:srgbClr val="1B365D"/>
                </a:solidFill>
                <a:latin typeface="Source Serif 4" pitchFamily="34" charset="0"/>
                <a:ea typeface="Source Serif 4" pitchFamily="34" charset="-122"/>
                <a:cs typeface="Source Serif 4" pitchFamily="34" charset="-120"/>
              </a:rPr>
              <a:t>Strengthen Key Sales Channels</a:t>
            </a:r>
            <a:endParaRPr lang="en-US" sz="1700" dirty="0"/>
          </a:p>
        </p:txBody>
      </p:sp>
      <p:sp>
        <p:nvSpPr>
          <p:cNvPr id="30" name="Text 23"/>
          <p:cNvSpPr/>
          <p:nvPr/>
        </p:nvSpPr>
        <p:spPr>
          <a:xfrm>
            <a:off x="1773912" y="6856095"/>
            <a:ext cx="12062698" cy="170140"/>
          </a:xfrm>
          <a:prstGeom prst="rect">
            <a:avLst/>
          </a:prstGeom>
          <a:noFill/>
          <a:ln/>
        </p:spPr>
        <p:txBody>
          <a:bodyPr wrap="none" lIns="0" tIns="0" rIns="0" bIns="0" rtlCol="0" anchor="t"/>
          <a:lstStyle/>
          <a:p>
            <a:pPr algn="l" indent="0" marL="0">
              <a:lnSpc>
                <a:spcPts val="1300"/>
              </a:lnSpc>
              <a:buNone/>
            </a:pPr>
            <a:r>
              <a:rPr lang="en-US" sz="1150" dirty="0">
                <a:solidFill>
                  <a:srgbClr val="1B365D"/>
                </a:solidFill>
                <a:latin typeface="Public Sans Light" pitchFamily="34" charset="0"/>
                <a:ea typeface="Public Sans Light" pitchFamily="34" charset="-122"/>
                <a:cs typeface="Public Sans Light" pitchFamily="34" charset="-120"/>
              </a:rPr>
              <a:t>Invest in maintaining and growing the Amazon, Myntra, and Ajio partnerships as these platforms dominate revenue — and explore opportunities to expand on emerging channels.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35235"/>
          </a:xfrm>
          <a:prstGeom prst="rect">
            <a:avLst/>
          </a:prstGeom>
        </p:spPr>
      </p:pic>
      <p:sp>
        <p:nvSpPr>
          <p:cNvPr id="3" name="Text 0"/>
          <p:cNvSpPr/>
          <p:nvPr/>
        </p:nvSpPr>
        <p:spPr>
          <a:xfrm>
            <a:off x="1644491" y="4055269"/>
            <a:ext cx="11341298" cy="1417677"/>
          </a:xfrm>
          <a:prstGeom prst="rect">
            <a:avLst/>
          </a:prstGeom>
          <a:noFill/>
          <a:ln/>
        </p:spPr>
        <p:txBody>
          <a:bodyPr wrap="none" lIns="0" tIns="0" rIns="0" bIns="0" rtlCol="0" anchor="t"/>
          <a:lstStyle/>
          <a:p>
            <a:pPr algn="ctr" indent="0" marL="0">
              <a:lnSpc>
                <a:spcPts val="11150"/>
              </a:lnSpc>
              <a:buNone/>
            </a:pPr>
            <a:r>
              <a:rPr lang="en-US" sz="8900" dirty="0">
                <a:solidFill>
                  <a:srgbClr val="0D0D0D"/>
                </a:solidFill>
                <a:latin typeface="Source Serif 4" pitchFamily="34" charset="0"/>
                <a:ea typeface="Source Serif 4" pitchFamily="34" charset="-122"/>
                <a:cs typeface="Source Serif 4" pitchFamily="34" charset="-120"/>
              </a:rPr>
              <a:t>Thank You</a:t>
            </a:r>
            <a:endParaRPr lang="en-US" sz="8900" dirty="0"/>
          </a:p>
        </p:txBody>
      </p:sp>
      <p:sp>
        <p:nvSpPr>
          <p:cNvPr id="4" name="Text 1"/>
          <p:cNvSpPr/>
          <p:nvPr/>
        </p:nvSpPr>
        <p:spPr>
          <a:xfrm>
            <a:off x="793790" y="5813108"/>
            <a:ext cx="13042821" cy="317540"/>
          </a:xfrm>
          <a:prstGeom prst="rect">
            <a:avLst/>
          </a:prstGeom>
          <a:noFill/>
          <a:ln/>
        </p:spPr>
        <p:txBody>
          <a:bodyPr wrap="none" lIns="0" tIns="0" rIns="0" bIns="0" rtlCol="0" anchor="t"/>
          <a:lstStyle/>
          <a:p>
            <a:pPr algn="ctr" indent="0" marL="0">
              <a:lnSpc>
                <a:spcPts val="2500"/>
              </a:lnSpc>
              <a:buNone/>
            </a:pPr>
            <a:r>
              <a:rPr lang="en-US" sz="1750" dirty="0">
                <a:solidFill>
                  <a:srgbClr val="1B365D"/>
                </a:solidFill>
                <a:latin typeface="Public Sans Light" pitchFamily="34" charset="0"/>
                <a:ea typeface="Public Sans Light" pitchFamily="34" charset="-122"/>
                <a:cs typeface="Public Sans Light" pitchFamily="34" charset="-120"/>
              </a:rPr>
              <a:t>E-commerce Sales Analysis — CreepShwal Dataset | Excel Project</a:t>
            </a:r>
            <a:endParaRPr lang="en-US" sz="1750" dirty="0"/>
          </a:p>
        </p:txBody>
      </p:sp>
      <p:pic>
        <p:nvPicPr>
          <p:cNvPr id="5" name="Image 1" descr="preencoded.png">    </p:cNvPr>
          <p:cNvPicPr>
            <a:picLocks noChangeAspect="1"/>
          </p:cNvPicPr>
          <p:nvPr/>
        </p:nvPicPr>
        <p:blipFill>
          <a:blip r:embed="rId2"/>
          <a:stretch>
            <a:fillRect/>
          </a:stretch>
        </p:blipFill>
        <p:spPr>
          <a:xfrm>
            <a:off x="5743456" y="6385798"/>
            <a:ext cx="3143369" cy="62376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2026-04-27T07:50:33Z</dcterms:created>
  <dcterms:modified xsi:type="dcterms:W3CDTF">2026-04-27T07:50:33Z</dcterms:modified>
</cp:coreProperties>
</file>